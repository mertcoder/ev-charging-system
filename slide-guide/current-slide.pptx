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8" r:id="rId4"/>
    <p:sldId id="259" r:id="rId5"/>
    <p:sldId id="293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304" r:id="rId14"/>
    <p:sldId id="305" r:id="rId15"/>
    <p:sldId id="268" r:id="rId16"/>
    <p:sldId id="269" r:id="rId17"/>
    <p:sldId id="270" r:id="rId18"/>
    <p:sldId id="296" r:id="rId19"/>
    <p:sldId id="271" r:id="rId20"/>
    <p:sldId id="294" r:id="rId21"/>
    <p:sldId id="295" r:id="rId22"/>
    <p:sldId id="272" r:id="rId23"/>
    <p:sldId id="297" r:id="rId24"/>
    <p:sldId id="302" r:id="rId25"/>
    <p:sldId id="301" r:id="rId26"/>
    <p:sldId id="273" r:id="rId27"/>
    <p:sldId id="308" r:id="rId28"/>
    <p:sldId id="303" r:id="rId29"/>
    <p:sldId id="274" r:id="rId30"/>
    <p:sldId id="275" r:id="rId31"/>
    <p:sldId id="306" r:id="rId32"/>
    <p:sldId id="307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284" r:id="rId42"/>
    <p:sldId id="285" r:id="rId43"/>
    <p:sldId id="286" r:id="rId44"/>
    <p:sldId id="287" r:id="rId45"/>
    <p:sldId id="288" r:id="rId46"/>
    <p:sldId id="289" r:id="rId4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2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4165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B04C1-1AD7-03C2-2501-35284D03F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151EE9-AEE8-4610-1E41-E73B05B6B8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2D4C90-80C4-3916-C7B1-BAF7ADD9E8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F9F28-D4B0-4EBE-2D7E-F6FAAB4B94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1619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2D738-F179-0C63-143A-440ACDC5E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4AAFA9-EE42-26C1-8D98-D9BA4E7A61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CE67A3-BE5D-9803-D7AF-CBD7A6D959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3EDD50-02A1-3DAA-B4D5-DAEEDFFDED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0981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92F42-490A-208F-A3FD-62231F236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2EAAE5-DC30-E2D5-E7EA-B1A142326A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E85869-6417-4687-9C8E-C40022D9B2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D3EBE2-E427-9C69-BD12-2432A6D684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4364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3FC53-8A4E-6091-99E2-A208B9E68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A35698-6CFA-344C-25A5-1DC6C01A50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760137-9D3B-241C-BEBD-7E43AC165F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002D2B-91ED-4630-06D2-D4969379F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9247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C355C-0F0F-57AF-17E2-BF91ABAD5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757F13-B64F-A40F-5E59-0D6075668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8E6453-F8BA-D0E3-0219-3653C29B7E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2BB3E-7541-1C97-98BA-2C564A315A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2881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DC13D-01E6-3ABE-026C-D290479B0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2F6D23-2BF6-43AE-70ED-6EE6A9E89D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16E0A5-7136-9982-86AE-F6F413366D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F5C2EF-C8F0-0738-B287-347001CBBC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3042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058C8-ED85-E790-96BE-DE22FEFB2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8792BF-163D-4A47-0602-6EC5A82379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71D544-5EF1-C3D4-E124-C69B652DCD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00FB11-2878-0D11-18A7-330E0C1C69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54741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75488" y="38404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5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EGE UNIVERSITY  ·  FUNDAMENTALS OF SOFTWARE ENGINEERING  ·  SPRING 2026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75488" y="65836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Voltline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75488" y="160020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A3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EV Charging Network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5488" y="2176272"/>
            <a:ext cx="5303520" cy="22860"/>
          </a:xfrm>
          <a:prstGeom prst="rect">
            <a:avLst/>
          </a:prstGeom>
          <a:solidFill>
            <a:srgbClr val="DEC878"/>
          </a:solidFill>
          <a:ln w="1270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475488" y="23774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Mert Akyıldız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27797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Hedera Yağmur Aşkar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31821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Zeynep Nur Alanat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" y="4498848"/>
            <a:ext cx="1097280" cy="310896"/>
          </a:xfrm>
          <a:prstGeom prst="rect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475488" y="449884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28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682496" y="455371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FSE Spring 2026  ·  Prototype Presentation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662DEBF-8406-A1D7-9DA2-5DB25AFBBF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188"/>
          <a:stretch>
            <a:fillRect/>
          </a:stretch>
        </p:blipFill>
        <p:spPr>
          <a:xfrm>
            <a:off x="5897662" y="863301"/>
            <a:ext cx="3246338" cy="429283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5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84048" y="420624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8375904" cy="22860"/>
          </a:xfrm>
          <a:prstGeom prst="rect">
            <a:avLst/>
          </a:prstGeom>
          <a:solidFill>
            <a:srgbClr val="DEC878"/>
          </a:solidFill>
          <a:ln w="1270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384048" y="1207008"/>
            <a:ext cx="8375904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50800" dist="25400" dir="8100000" algn="bl" rotWithShape="0">
              <a:srgbClr val="B8A898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384048" y="1207008"/>
            <a:ext cx="54864" cy="1042416"/>
          </a:xfrm>
          <a:prstGeom prst="rect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566928" y="129844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25296" y="12984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186332" y="1408176"/>
            <a:ext cx="54090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pattern · 8 components · subsystem traceability · request flow · implementation mapping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84048" y="2414016"/>
            <a:ext cx="8375904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50800" dist="25400" dir="8100000" algn="bl" rotWithShape="0">
              <a:srgbClr val="B8A898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384048" y="2414016"/>
            <a:ext cx="54864" cy="1042416"/>
          </a:xfrm>
          <a:prstGeom prst="rect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566928" y="2505456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25296" y="25054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 Design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186332" y="2615184"/>
            <a:ext cx="54090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design criteria · role-based views · Help Guides · UC screenshots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84048" y="3621024"/>
            <a:ext cx="8375904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50800" dist="25400" dir="8100000" algn="bl" rotWithShape="0">
              <a:srgbClr val="B8A898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384048" y="3621024"/>
            <a:ext cx="54864" cy="1042416"/>
          </a:xfrm>
          <a:prstGeom prst="rect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566928" y="3712464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225296" y="37124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186332" y="3822192"/>
            <a:ext cx="54090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unit tests · API workflow tests · 29 tests passing · RBAC · audit integrity · requirements traceability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029200" y="182880"/>
            <a:ext cx="4114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2A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475488" y="1417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5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75488" y="1719072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8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475488" y="2816352"/>
            <a:ext cx="4114800" cy="22860"/>
          </a:xfrm>
          <a:prstGeom prst="rect">
            <a:avLst/>
          </a:prstGeom>
          <a:solidFill>
            <a:srgbClr val="D4A83A"/>
          </a:solidFill>
          <a:ln w="12700">
            <a:solidFill>
              <a:srgbClr val="D4A83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75488" y="296265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· Components · Subsystems · Request Flow · Implementation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5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ARCHITECTURE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84048" y="420624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Architecture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8375904" cy="22860"/>
          </a:xfrm>
          <a:prstGeom prst="rect">
            <a:avLst/>
          </a:prstGeom>
          <a:solidFill>
            <a:srgbClr val="DEC878"/>
          </a:solidFill>
          <a:ln w="1270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384048" y="1097280"/>
            <a:ext cx="8375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is a web-based information system — a practical hybrid of established course patterns, not an experimental design.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47472" y="1426464"/>
            <a:ext cx="2011680" cy="2788920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101600" dist="38100" dir="8100000" algn="bl" rotWithShape="0">
              <a:srgbClr val="B8A898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347472" y="1426464"/>
            <a:ext cx="2011680" cy="54864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475488" y="15361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1847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Multi-tier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Client–Server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" y="2487168"/>
            <a:ext cx="1773936" cy="2286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457200" y="2578608"/>
            <a:ext cx="184708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browser client ↔ Express API server ↔ Prisma/SQLite data tier. No UI code runs on the server; no DB access from the browser.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59736" y="1426464"/>
            <a:ext cx="2011680" cy="2788920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101600" dist="38100" dir="8100000" algn="bl" rotWithShape="0">
              <a:srgbClr val="B8A898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2459736" y="1426464"/>
            <a:ext cx="2011680" cy="54864"/>
          </a:xfrm>
          <a:prstGeom prst="rect">
            <a:avLst/>
          </a:prstGeom>
          <a:solidFill>
            <a:srgbClr val="2A5A8A"/>
          </a:solidFill>
          <a:ln w="12700">
            <a:solidFill>
              <a:srgbClr val="2A5A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2587752" y="15361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5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69464" y="1920240"/>
            <a:ext cx="1847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Layered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587752" y="2487168"/>
            <a:ext cx="1773936" cy="22860"/>
          </a:xfrm>
          <a:prstGeom prst="rect">
            <a:avLst/>
          </a:prstGeom>
          <a:solidFill>
            <a:srgbClr val="2A5A8A"/>
          </a:solidFill>
          <a:ln w="12700">
            <a:solidFill>
              <a:srgbClr val="2A5A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2569464" y="2578608"/>
            <a:ext cx="184708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 → API/routing layer → application/domain service layer → repository/data access layer. One responsibility per layer.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0" y="1426464"/>
            <a:ext cx="2011680" cy="2788920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101600" dist="38100" dir="8100000" algn="bl" rotWithShape="0">
              <a:srgbClr val="B8A898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4572000" y="1426464"/>
            <a:ext cx="2011680" cy="54864"/>
          </a:xfrm>
          <a:prstGeom prst="rect">
            <a:avLst/>
          </a:prstGeom>
          <a:solidFill>
            <a:srgbClr val="4A7A5A"/>
          </a:solidFill>
          <a:ln w="12700">
            <a:solidFill>
              <a:srgbClr val="4A7A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4700016" y="15361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7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81728" y="1920240"/>
            <a:ext cx="1847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Repository /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Data-Centered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00016" y="2487168"/>
            <a:ext cx="1773936" cy="22860"/>
          </a:xfrm>
          <a:prstGeom prst="rect">
            <a:avLst/>
          </a:prstGeom>
          <a:solidFill>
            <a:srgbClr val="4A7A5A"/>
          </a:solidFill>
          <a:ln w="12700">
            <a:solidFill>
              <a:srgbClr val="4A7A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4681728" y="2578608"/>
            <a:ext cx="184708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persistent state stored in central SQLite through Prisma. No scattered queries. One access point for all subsystems.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684264" y="1426464"/>
            <a:ext cx="2011680" cy="2788920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101600" dist="38100" dir="8100000" algn="bl" rotWithShape="0">
              <a:srgbClr val="B8A898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6684264" y="1426464"/>
            <a:ext cx="2011680" cy="54864"/>
          </a:xfrm>
          <a:prstGeom prst="rect">
            <a:avLst/>
          </a:prstGeom>
          <a:solidFill>
            <a:srgbClr val="5A3A7A"/>
          </a:solidFill>
          <a:ln w="12700">
            <a:solidFill>
              <a:srgbClr val="5A3A7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6812280" y="15361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3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93992" y="1920240"/>
            <a:ext cx="1847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MVC-Inspired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Separation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812280" y="2487168"/>
            <a:ext cx="1773936" cy="22860"/>
          </a:xfrm>
          <a:prstGeom prst="rect">
            <a:avLst/>
          </a:prstGeom>
          <a:solidFill>
            <a:srgbClr val="5A3A7A"/>
          </a:solidFill>
          <a:ln w="12700">
            <a:solidFill>
              <a:srgbClr val="5A3A7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6793992" y="2578608"/>
            <a:ext cx="184708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components = View/interaction.  Express routes = Controllers.  Prisma/domain models = Model.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5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ARCHITECTURE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84048" y="420624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Block Diagram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8375904" cy="22860"/>
          </a:xfrm>
          <a:prstGeom prst="rect">
            <a:avLst/>
          </a:prstGeom>
          <a:solidFill>
            <a:srgbClr val="DEC878"/>
          </a:solidFill>
          <a:ln w="1270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384048" y="1097280"/>
            <a:ext cx="8375904" cy="3858768"/>
          </a:xfrm>
          <a:prstGeom prst="rect">
            <a:avLst/>
          </a:prstGeom>
          <a:solidFill>
            <a:srgbClr val="F2EDE6"/>
          </a:solidFill>
          <a:ln w="635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100" name="Actor Driver"/>
          <p:cNvSpPr/>
          <p:nvPr/>
        </p:nvSpPr>
        <p:spPr>
          <a:xfrm>
            <a:off x="1346200" y="1270000"/>
            <a:ext cx="1270000" cy="304800"/>
          </a:xfrm>
          <a:prstGeom prst="roundRect">
            <a:avLst/>
          </a:prstGeom>
          <a:solidFill>
            <a:srgbClr val="F5EBD0"/>
          </a:solidFill>
          <a:ln w="9525">
            <a:solidFill>
              <a:srgbClr val="B8922A"/>
            </a:solidFill>
          </a:ln>
        </p:spPr>
        <p:txBody>
          <a:bodyPr wrap="square" lIns="36000" tIns="18000" rIns="36000" bIns="1800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C"/>
                </a:solidFill>
                <a:latin typeface="Calibri"/>
              </a:rPr>
              <a:t>Driver</a:t>
            </a:r>
          </a:p>
        </p:txBody>
      </p:sp>
      <p:sp>
        <p:nvSpPr>
          <p:cNvPr id="101" name="Actor Operator"/>
          <p:cNvSpPr/>
          <p:nvPr/>
        </p:nvSpPr>
        <p:spPr>
          <a:xfrm>
            <a:off x="2794000" y="1270000"/>
            <a:ext cx="1270000" cy="304800"/>
          </a:xfrm>
          <a:prstGeom prst="roundRect">
            <a:avLst/>
          </a:prstGeom>
          <a:solidFill>
            <a:srgbClr val="F5EBD0"/>
          </a:solidFill>
          <a:ln w="9525">
            <a:solidFill>
              <a:srgbClr val="B8922A"/>
            </a:solidFill>
          </a:ln>
        </p:spPr>
        <p:txBody>
          <a:bodyPr wrap="square" lIns="36000" tIns="18000" rIns="36000" bIns="1800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C"/>
                </a:solidFill>
                <a:latin typeface="Calibri"/>
              </a:rPr>
              <a:t>Operator</a:t>
            </a:r>
          </a:p>
        </p:txBody>
      </p:sp>
      <p:sp>
        <p:nvSpPr>
          <p:cNvPr id="102" name="Actor Admin"/>
          <p:cNvSpPr/>
          <p:nvPr/>
        </p:nvSpPr>
        <p:spPr>
          <a:xfrm>
            <a:off x="4241800" y="1270000"/>
            <a:ext cx="1270000" cy="304800"/>
          </a:xfrm>
          <a:prstGeom prst="roundRect">
            <a:avLst/>
          </a:prstGeom>
          <a:solidFill>
            <a:srgbClr val="F5EBD0"/>
          </a:solidFill>
          <a:ln w="9525">
            <a:solidFill>
              <a:srgbClr val="B8922A"/>
            </a:solidFill>
          </a:ln>
        </p:spPr>
        <p:txBody>
          <a:bodyPr wrap="square" lIns="36000" tIns="18000" rIns="36000" bIns="1800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C"/>
                </a:solidFill>
                <a:latin typeface="Calibri"/>
              </a:rPr>
              <a:t>Admin</a:t>
            </a:r>
          </a:p>
        </p:txBody>
      </p:sp>
      <p:sp>
        <p:nvSpPr>
          <p:cNvPr id="103" name="Frontend"/>
          <p:cNvSpPr/>
          <p:nvPr/>
        </p:nvSpPr>
        <p:spPr>
          <a:xfrm>
            <a:off x="635000" y="1778000"/>
            <a:ext cx="5588000" cy="381000"/>
          </a:xfrm>
          <a:prstGeom prst="rect">
            <a:avLst/>
          </a:prstGeom>
          <a:solidFill>
            <a:srgbClr val="FAF7F0"/>
          </a:solidFill>
          <a:ln w="9525">
            <a:solidFill>
              <a:srgbClr val="B8922A"/>
            </a:solidFill>
          </a:ln>
        </p:spPr>
        <p:txBody>
          <a:bodyPr wrap="square" lIns="36000" tIns="18000" rIns="36000" bIns="1800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C"/>
                </a:solidFill>
                <a:latin typeface="Calibri"/>
              </a:rPr>
              <a:t>FRONTEND — React + Vite + TypeScript</a:t>
            </a:r>
          </a:p>
          <a:p>
            <a:pPr marL="0" indent="0" algn="ctr">
              <a:buNone/>
            </a:pPr>
            <a:r>
              <a:rPr lang="en-US" sz="750" dirty="0">
                <a:solidFill>
                  <a:srgbClr val="5A5A5A"/>
                </a:solidFill>
                <a:latin typeface="Calibri"/>
              </a:rPr>
              <a:t>UI Pages  ·  Components  ·  API Client (axios)  ·  State &amp; Routing</a:t>
            </a:r>
          </a:p>
        </p:txBody>
      </p:sp>
      <p:cxnSp>
        <p:nvCxnSpPr>
          <p:cNvPr id="104" name="a1"/>
          <p:cNvCxnSpPr/>
          <p:nvPr/>
        </p:nvCxnSpPr>
        <p:spPr>
          <a:xfrm>
            <a:off x="1981200" y="1574800"/>
            <a:ext cx="6350" cy="203200"/>
          </a:xfrm>
          <a:prstGeom prst="straightConnector1">
            <a:avLst/>
          </a:prstGeom>
          <a:ln w="15875">
            <a:solidFill>
              <a:srgbClr val="B8922A"/>
            </a:solidFill>
            <a:tailEnd type="triangle" w="med" len="med"/>
          </a:ln>
        </p:spPr>
      </p:cxnSp>
      <p:cxnSp>
        <p:nvCxnSpPr>
          <p:cNvPr id="105" name="a2"/>
          <p:cNvCxnSpPr/>
          <p:nvPr/>
        </p:nvCxnSpPr>
        <p:spPr>
          <a:xfrm>
            <a:off x="3429000" y="1574800"/>
            <a:ext cx="6350" cy="203200"/>
          </a:xfrm>
          <a:prstGeom prst="straightConnector1">
            <a:avLst/>
          </a:prstGeom>
          <a:ln w="15875">
            <a:solidFill>
              <a:srgbClr val="B8922A"/>
            </a:solidFill>
            <a:tailEnd type="triangle" w="med" len="med"/>
          </a:ln>
        </p:spPr>
      </p:cxnSp>
      <p:cxnSp>
        <p:nvCxnSpPr>
          <p:cNvPr id="106" name="a3"/>
          <p:cNvCxnSpPr/>
          <p:nvPr/>
        </p:nvCxnSpPr>
        <p:spPr>
          <a:xfrm>
            <a:off x="4876800" y="1574800"/>
            <a:ext cx="6350" cy="203200"/>
          </a:xfrm>
          <a:prstGeom prst="straightConnector1">
            <a:avLst/>
          </a:prstGeom>
          <a:ln w="15875">
            <a:solidFill>
              <a:srgbClr val="B8922A"/>
            </a:solidFill>
            <a:tailEnd type="triangle" w="med" len="med"/>
          </a:ln>
        </p:spPr>
      </p:cxnSp>
      <p:sp>
        <p:nvSpPr>
          <p:cNvPr id="107" name="API Layer"/>
          <p:cNvSpPr/>
          <p:nvPr/>
        </p:nvSpPr>
        <p:spPr>
          <a:xfrm>
            <a:off x="635000" y="2387600"/>
            <a:ext cx="5588000" cy="381000"/>
          </a:xfrm>
          <a:prstGeom prst="rect">
            <a:avLst/>
          </a:prstGeom>
          <a:solidFill>
            <a:srgbClr val="FAF7F0"/>
          </a:solidFill>
          <a:ln w="9525">
            <a:solidFill>
              <a:srgbClr val="B8922A"/>
            </a:solidFill>
          </a:ln>
        </p:spPr>
        <p:txBody>
          <a:bodyPr wrap="square" lIns="36000" tIns="18000" rIns="36000" bIns="1800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C"/>
                </a:solidFill>
                <a:latin typeface="Calibri"/>
              </a:rPr>
              <a:t>API LAYER — Node.js + Express</a:t>
            </a:r>
          </a:p>
          <a:p>
            <a:pPr marL="0" indent="0" algn="ctr">
              <a:buNone/>
            </a:pPr>
            <a:r>
              <a:rPr lang="en-US" sz="750" dirty="0">
                <a:solidFill>
                  <a:srgbClr val="5A5A5A"/>
                </a:solidFill>
                <a:latin typeface="Calibri"/>
              </a:rPr>
              <a:t>Routes  ·  Middleware ( RBAC / Validation / Error</a:t>
            </a:r>
            <a:r>
              <a:rPr lang="tr-TR" sz="750" dirty="0">
                <a:solidFill>
                  <a:srgbClr val="5A5A5A"/>
                </a:solidFill>
                <a:latin typeface="Calibri"/>
              </a:rPr>
              <a:t> Handling</a:t>
            </a:r>
            <a:r>
              <a:rPr lang="en-US" sz="750" dirty="0">
                <a:solidFill>
                  <a:srgbClr val="5A5A5A"/>
                </a:solidFill>
                <a:latin typeface="Calibri"/>
              </a:rPr>
              <a:t>)  ·  REST/JSON</a:t>
            </a:r>
          </a:p>
        </p:txBody>
      </p:sp>
      <p:cxnSp>
        <p:nvCxnSpPr>
          <p:cNvPr id="108" name="a4"/>
          <p:cNvCxnSpPr/>
          <p:nvPr/>
        </p:nvCxnSpPr>
        <p:spPr>
          <a:xfrm>
            <a:off x="3429000" y="2159000"/>
            <a:ext cx="6350" cy="228600"/>
          </a:xfrm>
          <a:prstGeom prst="straightConnector1">
            <a:avLst/>
          </a:prstGeom>
          <a:ln w="15875">
            <a:solidFill>
              <a:srgbClr val="B8922A"/>
            </a:solidFill>
            <a:tailEnd type="triangle" w="med" len="med"/>
          </a:ln>
        </p:spPr>
      </p:cxnSp>
      <p:sp>
        <p:nvSpPr>
          <p:cNvPr id="109" name="https-label"/>
          <p:cNvSpPr/>
          <p:nvPr/>
        </p:nvSpPr>
        <p:spPr>
          <a:xfrm>
            <a:off x="3505200" y="2184400"/>
            <a:ext cx="8890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36000" tIns="18000" rIns="36000" bIns="18000" anchor="ctr"/>
          <a:lstStyle/>
          <a:p>
            <a:pPr marL="0" indent="0" algn="ctr">
              <a:buNone/>
            </a:pPr>
            <a:r>
              <a:rPr lang="tr-TR" sz="650" b="1" dirty="0">
                <a:solidFill>
                  <a:srgbClr val="8A6E20"/>
                </a:solidFill>
                <a:latin typeface="Calibri"/>
              </a:rPr>
              <a:t>REST</a:t>
            </a:r>
            <a:r>
              <a:rPr lang="en-US" sz="650" b="1" dirty="0">
                <a:solidFill>
                  <a:srgbClr val="8A6E20"/>
                </a:solidFill>
                <a:latin typeface="Calibri"/>
              </a:rPr>
              <a:t>/ JSON</a:t>
            </a:r>
            <a:r>
              <a:rPr lang="tr-TR" sz="650" b="1" dirty="0">
                <a:solidFill>
                  <a:srgbClr val="8A6E20"/>
                </a:solidFill>
                <a:latin typeface="Calibri"/>
              </a:rPr>
              <a:t> API</a:t>
            </a:r>
            <a:endParaRPr lang="en-US" sz="650" b="1" dirty="0">
              <a:solidFill>
                <a:srgbClr val="B8922A"/>
              </a:solidFill>
              <a:latin typeface="Calibri"/>
            </a:endParaRPr>
          </a:p>
        </p:txBody>
      </p:sp>
      <p:sp>
        <p:nvSpPr>
          <p:cNvPr id="110" name="svc-bg"/>
          <p:cNvSpPr/>
          <p:nvPr/>
        </p:nvSpPr>
        <p:spPr>
          <a:xfrm>
            <a:off x="635000" y="2971800"/>
            <a:ext cx="5588000" cy="508000"/>
          </a:xfrm>
          <a:prstGeom prst="rect">
            <a:avLst/>
          </a:prstGeom>
          <a:solidFill>
            <a:srgbClr val="FBF9F3"/>
          </a:solidFill>
          <a:ln w="9525">
            <a:solidFill>
              <a:srgbClr val="C9BFA8"/>
            </a:solidFill>
          </a:ln>
        </p:spPr>
        <p:txBody>
          <a:bodyPr wrap="square" lIns="36000" tIns="18000" rIns="36000" bIns="18000" anchor="ctr"/>
          <a:lstStyle/>
          <a:p>
            <a:pPr marL="0" indent="0" algn="ctr">
              <a:buNone/>
            </a:pPr>
            <a:endParaRPr/>
          </a:p>
        </p:txBody>
      </p:sp>
      <p:sp>
        <p:nvSpPr>
          <p:cNvPr id="111" name="svc-title"/>
          <p:cNvSpPr/>
          <p:nvPr/>
        </p:nvSpPr>
        <p:spPr>
          <a:xfrm>
            <a:off x="711200" y="2997200"/>
            <a:ext cx="5435600" cy="152400"/>
          </a:xfrm>
          <a:prstGeom prst="rect">
            <a:avLst/>
          </a:prstGeom>
          <a:solidFill>
            <a:srgbClr val="FBF9F3"/>
          </a:solidFill>
          <a:ln w="9525">
            <a:solidFill>
              <a:srgbClr val="FBF9F3"/>
            </a:solidFill>
          </a:ln>
        </p:spPr>
        <p:txBody>
          <a:bodyPr wrap="square" lIns="36000" tIns="18000" rIns="36000" bIns="1800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A6E20"/>
                </a:solidFill>
                <a:latin typeface="Calibri"/>
              </a:rPr>
              <a:t>DOMAIN / APPLICATION SERVICES</a:t>
            </a:r>
          </a:p>
        </p:txBody>
      </p:sp>
      <p:sp>
        <p:nvSpPr>
          <p:cNvPr id="112" name="svc-0"/>
          <p:cNvSpPr/>
          <p:nvPr/>
        </p:nvSpPr>
        <p:spPr>
          <a:xfrm>
            <a:off x="635000" y="3175000"/>
            <a:ext cx="878417" cy="279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8922A"/>
            </a:solidFill>
          </a:ln>
        </p:spPr>
        <p:txBody>
          <a:bodyPr wrap="square" lIns="36000" tIns="18000" rIns="36000" bIns="1800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1C1C"/>
                </a:solidFill>
                <a:latin typeface="Calibri"/>
              </a:rPr>
              <a:t>Reservation</a:t>
            </a:r>
          </a:p>
        </p:txBody>
      </p:sp>
      <p:sp>
        <p:nvSpPr>
          <p:cNvPr id="113" name="svc-1"/>
          <p:cNvSpPr/>
          <p:nvPr/>
        </p:nvSpPr>
        <p:spPr>
          <a:xfrm>
            <a:off x="1576917" y="3175000"/>
            <a:ext cx="878417" cy="279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8922A"/>
            </a:solidFill>
          </a:ln>
        </p:spPr>
        <p:txBody>
          <a:bodyPr wrap="square" lIns="36000" tIns="18000" rIns="36000" bIns="1800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1C1C"/>
                </a:solidFill>
                <a:latin typeface="Calibri"/>
              </a:rPr>
              <a:t>Session</a:t>
            </a:r>
          </a:p>
        </p:txBody>
      </p:sp>
      <p:sp>
        <p:nvSpPr>
          <p:cNvPr id="114" name="svc-2"/>
          <p:cNvSpPr/>
          <p:nvPr/>
        </p:nvSpPr>
        <p:spPr>
          <a:xfrm>
            <a:off x="2518833" y="3175000"/>
            <a:ext cx="878417" cy="279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8922A"/>
            </a:solidFill>
          </a:ln>
        </p:spPr>
        <p:txBody>
          <a:bodyPr wrap="square" lIns="36000" tIns="18000" rIns="36000" bIns="1800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1C1C"/>
                </a:solidFill>
                <a:latin typeface="Calibri"/>
              </a:rPr>
              <a:t>Wallet</a:t>
            </a:r>
          </a:p>
        </p:txBody>
      </p:sp>
      <p:sp>
        <p:nvSpPr>
          <p:cNvPr id="115" name="svc-3"/>
          <p:cNvSpPr/>
          <p:nvPr/>
        </p:nvSpPr>
        <p:spPr>
          <a:xfrm>
            <a:off x="3460750" y="3175000"/>
            <a:ext cx="878417" cy="279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8922A"/>
            </a:solidFill>
          </a:ln>
        </p:spPr>
        <p:txBody>
          <a:bodyPr wrap="square" lIns="36000" tIns="18000" rIns="36000" bIns="1800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1C1C"/>
                </a:solidFill>
                <a:latin typeface="Calibri"/>
              </a:rPr>
              <a:t>Audit</a:t>
            </a:r>
          </a:p>
        </p:txBody>
      </p:sp>
      <p:sp>
        <p:nvSpPr>
          <p:cNvPr id="116" name="svc-4"/>
          <p:cNvSpPr/>
          <p:nvPr/>
        </p:nvSpPr>
        <p:spPr>
          <a:xfrm>
            <a:off x="4402667" y="3175000"/>
            <a:ext cx="878417" cy="279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8922A"/>
            </a:solidFill>
          </a:ln>
        </p:spPr>
        <p:txBody>
          <a:bodyPr wrap="square" lIns="36000" tIns="18000" rIns="36000" bIns="1800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1C1C"/>
                </a:solidFill>
                <a:latin typeface="Calibri"/>
              </a:rPr>
              <a:t>Notification</a:t>
            </a:r>
          </a:p>
        </p:txBody>
      </p:sp>
      <p:sp>
        <p:nvSpPr>
          <p:cNvPr id="117" name="svc-5"/>
          <p:cNvSpPr/>
          <p:nvPr/>
        </p:nvSpPr>
        <p:spPr>
          <a:xfrm>
            <a:off x="5344583" y="3175000"/>
            <a:ext cx="878417" cy="279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8922A"/>
            </a:solidFill>
          </a:ln>
        </p:spPr>
        <p:txBody>
          <a:bodyPr wrap="square" lIns="36000" tIns="18000" rIns="36000" bIns="1800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1C1C"/>
                </a:solidFill>
                <a:latin typeface="Calibri"/>
              </a:rPr>
              <a:t>Reports / Auth</a:t>
            </a:r>
          </a:p>
        </p:txBody>
      </p:sp>
      <p:cxnSp>
        <p:nvCxnSpPr>
          <p:cNvPr id="118" name="a5"/>
          <p:cNvCxnSpPr/>
          <p:nvPr/>
        </p:nvCxnSpPr>
        <p:spPr>
          <a:xfrm>
            <a:off x="3429000" y="2768600"/>
            <a:ext cx="6350" cy="203200"/>
          </a:xfrm>
          <a:prstGeom prst="straightConnector1">
            <a:avLst/>
          </a:prstGeom>
          <a:ln w="15875">
            <a:solidFill>
              <a:srgbClr val="B8922A"/>
            </a:solidFill>
            <a:tailEnd type="triangle" w="med" len="med"/>
          </a:ln>
        </p:spPr>
      </p:cxnSp>
      <p:sp>
        <p:nvSpPr>
          <p:cNvPr id="119" name="Repo"/>
          <p:cNvSpPr/>
          <p:nvPr/>
        </p:nvSpPr>
        <p:spPr>
          <a:xfrm>
            <a:off x="635000" y="3784600"/>
            <a:ext cx="3175000" cy="330200"/>
          </a:xfrm>
          <a:prstGeom prst="rect">
            <a:avLst/>
          </a:prstGeom>
          <a:solidFill>
            <a:srgbClr val="FAF7F0"/>
          </a:solidFill>
          <a:ln w="9525">
            <a:solidFill>
              <a:srgbClr val="B8922A"/>
            </a:solidFill>
          </a:ln>
        </p:spPr>
        <p:txBody>
          <a:bodyPr wrap="square" lIns="36000" tIns="18000" rIns="36000" bIns="1800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C1C1C"/>
                </a:solidFill>
                <a:latin typeface="Calibri"/>
              </a:rPr>
              <a:t>REPOSITORY — Prisma ORM</a:t>
            </a:r>
          </a:p>
          <a:p>
            <a:pPr marL="0" indent="0" algn="ctr">
              <a:buNone/>
            </a:pPr>
            <a:r>
              <a:rPr lang="en-US" sz="700" dirty="0">
                <a:solidFill>
                  <a:srgbClr val="5A5A5A"/>
                </a:solidFill>
                <a:latin typeface="Calibri"/>
              </a:rPr>
              <a:t>Queries  ·  Migrations  ·  Transactions</a:t>
            </a:r>
          </a:p>
        </p:txBody>
      </p:sp>
      <p:sp>
        <p:nvSpPr>
          <p:cNvPr id="120" name="DB"/>
          <p:cNvSpPr/>
          <p:nvPr/>
        </p:nvSpPr>
        <p:spPr>
          <a:xfrm>
            <a:off x="3937000" y="3784600"/>
            <a:ext cx="1778000" cy="330200"/>
          </a:xfrm>
          <a:prstGeom prst="can">
            <a:avLst/>
          </a:prstGeom>
          <a:solidFill>
            <a:srgbClr val="F5EBD0"/>
          </a:solidFill>
          <a:ln w="9525">
            <a:solidFill>
              <a:srgbClr val="B8922A"/>
            </a:solidFill>
          </a:ln>
        </p:spPr>
        <p:txBody>
          <a:bodyPr wrap="square" lIns="36000" tIns="18000" rIns="36000" bIns="1800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C1C1C"/>
                </a:solidFill>
                <a:latin typeface="Calibri"/>
              </a:rPr>
              <a:t>SQLite DB</a:t>
            </a:r>
          </a:p>
          <a:p>
            <a:pPr marL="0" indent="0" algn="ctr">
              <a:buNone/>
            </a:pPr>
            <a:r>
              <a:rPr lang="en-US" sz="700" dirty="0">
                <a:solidFill>
                  <a:srgbClr val="5A5A5A"/>
                </a:solidFill>
                <a:latin typeface="Calibri"/>
              </a:rPr>
              <a:t>file-based</a:t>
            </a:r>
          </a:p>
        </p:txBody>
      </p:sp>
      <p:cxnSp>
        <p:nvCxnSpPr>
          <p:cNvPr id="121" name="a6"/>
          <p:cNvCxnSpPr/>
          <p:nvPr/>
        </p:nvCxnSpPr>
        <p:spPr>
          <a:xfrm>
            <a:off x="2222500" y="3479800"/>
            <a:ext cx="6350" cy="304800"/>
          </a:xfrm>
          <a:prstGeom prst="straightConnector1">
            <a:avLst/>
          </a:prstGeom>
          <a:ln w="15875">
            <a:solidFill>
              <a:srgbClr val="B8922A"/>
            </a:solidFill>
            <a:tailEnd type="triangle" w="med" len="med"/>
          </a:ln>
        </p:spPr>
      </p:cxnSp>
      <p:cxnSp>
        <p:nvCxnSpPr>
          <p:cNvPr id="122" name="a7"/>
          <p:cNvCxnSpPr/>
          <p:nvPr/>
        </p:nvCxnSpPr>
        <p:spPr>
          <a:xfrm>
            <a:off x="3810000" y="3949700"/>
            <a:ext cx="127000" cy="6350"/>
          </a:xfrm>
          <a:prstGeom prst="straightConnector1">
            <a:avLst/>
          </a:prstGeom>
          <a:ln w="15875">
            <a:solidFill>
              <a:srgbClr val="B8922A"/>
            </a:solidFill>
            <a:tailEnd type="triangle" w="med" len="med"/>
          </a:ln>
        </p:spPr>
      </p:cxnSp>
      <p:sp>
        <p:nvSpPr>
          <p:cNvPr id="123" name="ext-label"/>
          <p:cNvSpPr/>
          <p:nvPr/>
        </p:nvSpPr>
        <p:spPr>
          <a:xfrm>
            <a:off x="6477000" y="1763268"/>
            <a:ext cx="2032000" cy="177800"/>
          </a:xfrm>
          <a:prstGeom prst="rect">
            <a:avLst/>
          </a:prstGeom>
          <a:solidFill>
            <a:srgbClr val="FBF9F3"/>
          </a:solidFill>
          <a:ln w="9525">
            <a:solidFill>
              <a:srgbClr val="FBF9F3"/>
            </a:solidFill>
          </a:ln>
        </p:spPr>
        <p:txBody>
          <a:bodyPr wrap="square" lIns="36000" tIns="18000" rIns="36000" bIns="1800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A6E20"/>
                </a:solidFill>
                <a:latin typeface="Calibri"/>
              </a:rPr>
              <a:t>EXTERNAL</a:t>
            </a:r>
          </a:p>
        </p:txBody>
      </p:sp>
      <p:sp>
        <p:nvSpPr>
          <p:cNvPr id="124" name="ext-maps"/>
          <p:cNvSpPr/>
          <p:nvPr/>
        </p:nvSpPr>
        <p:spPr>
          <a:xfrm>
            <a:off x="6477000" y="1981200"/>
            <a:ext cx="2032000" cy="177800"/>
          </a:xfrm>
          <a:prstGeom prst="roundRect">
            <a:avLst/>
          </a:prstGeom>
          <a:solidFill>
            <a:srgbClr val="EFE9DC"/>
          </a:solidFill>
          <a:ln w="9525">
            <a:solidFill>
              <a:srgbClr val="C9BFA8"/>
            </a:solidFill>
          </a:ln>
        </p:spPr>
        <p:txBody>
          <a:bodyPr wrap="square" lIns="36000" tIns="18000" rIns="36000" bIns="1800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C1C1C"/>
                </a:solidFill>
                <a:latin typeface="Calibri"/>
              </a:rPr>
              <a:t>Google Maps / Geolocation</a:t>
            </a:r>
          </a:p>
        </p:txBody>
      </p:sp>
      <p:sp>
        <p:nvSpPr>
          <p:cNvPr id="125" name="ext-pay"/>
          <p:cNvSpPr/>
          <p:nvPr/>
        </p:nvSpPr>
        <p:spPr>
          <a:xfrm>
            <a:off x="6477000" y="3225800"/>
            <a:ext cx="2032000" cy="177800"/>
          </a:xfrm>
          <a:prstGeom prst="roundRect">
            <a:avLst/>
          </a:prstGeom>
          <a:solidFill>
            <a:srgbClr val="EFE9DC"/>
          </a:solidFill>
          <a:ln w="9525">
            <a:solidFill>
              <a:srgbClr val="C9BFA8"/>
            </a:solidFill>
          </a:ln>
        </p:spPr>
        <p:txBody>
          <a:bodyPr wrap="square" lIns="36000" tIns="18000" rIns="36000" bIns="1800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C1C1C"/>
                </a:solidFill>
                <a:latin typeface="Calibri"/>
              </a:rPr>
              <a:t>Payment Gateway (stub)</a:t>
            </a:r>
          </a:p>
        </p:txBody>
      </p:sp>
      <p:cxnSp>
        <p:nvCxnSpPr>
          <p:cNvPr id="126" name="a8"/>
          <p:cNvCxnSpPr/>
          <p:nvPr/>
        </p:nvCxnSpPr>
        <p:spPr>
          <a:xfrm>
            <a:off x="6223000" y="3314700"/>
            <a:ext cx="254000" cy="6350"/>
          </a:xfrm>
          <a:prstGeom prst="straightConnector1">
            <a:avLst/>
          </a:prstGeom>
          <a:ln w="15875">
            <a:solidFill>
              <a:srgbClr val="B8922A"/>
            </a:solidFill>
            <a:tailEnd type="triangle" w="med" len="med"/>
          </a:ln>
        </p:spPr>
      </p:cxnSp>
      <p:cxnSp>
        <p:nvCxnSpPr>
          <p:cNvPr id="200" name="a-fe-maps"/>
          <p:cNvCxnSpPr/>
          <p:nvPr/>
        </p:nvCxnSpPr>
        <p:spPr>
          <a:xfrm>
            <a:off x="6223000" y="2070100"/>
            <a:ext cx="254000" cy="6350"/>
          </a:xfrm>
          <a:prstGeom prst="straightConnector1">
            <a:avLst/>
          </a:prstGeom>
          <a:ln w="15875">
            <a:solidFill>
              <a:srgbClr val="B8922A"/>
            </a:solidFill>
            <a:tailEnd type="triangle" w="med" len="med"/>
          </a:ln>
        </p:spPr>
      </p:cxnSp>
      <p:sp>
        <p:nvSpPr>
          <p:cNvPr id="14" name="ext-label">
            <a:extLst>
              <a:ext uri="{FF2B5EF4-FFF2-40B4-BE49-F238E27FC236}">
                <a16:creationId xmlns:a16="http://schemas.microsoft.com/office/drawing/2014/main" id="{E3C3FCE3-BCD3-BA38-88C0-7729A8447B4A}"/>
              </a:ext>
            </a:extLst>
          </p:cNvPr>
          <p:cNvSpPr/>
          <p:nvPr/>
        </p:nvSpPr>
        <p:spPr>
          <a:xfrm>
            <a:off x="6473952" y="3007868"/>
            <a:ext cx="2032000" cy="177800"/>
          </a:xfrm>
          <a:prstGeom prst="rect">
            <a:avLst/>
          </a:prstGeom>
          <a:solidFill>
            <a:srgbClr val="FBF9F3"/>
          </a:solidFill>
          <a:ln w="9525">
            <a:solidFill>
              <a:srgbClr val="FBF9F3"/>
            </a:solidFill>
          </a:ln>
        </p:spPr>
        <p:txBody>
          <a:bodyPr wrap="square" lIns="36000" tIns="18000" rIns="36000" bIns="1800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A6E20"/>
                </a:solidFill>
                <a:latin typeface="Calibri"/>
              </a:rPr>
              <a:t>EXTERNAL</a:t>
            </a:r>
          </a:p>
        </p:txBody>
      </p:sp>
    </p:spTree>
    <p:extLst>
      <p:ext uri="{BB962C8B-B14F-4D97-AF65-F5344CB8AC3E}">
        <p14:creationId xmlns:p14="http://schemas.microsoft.com/office/powerpoint/2010/main" val="612959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5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ARCHITECTURE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84048" y="420624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 Components &amp; Responsibilities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8375904" cy="22860"/>
          </a:xfrm>
          <a:prstGeom prst="rect">
            <a:avLst/>
          </a:prstGeom>
          <a:solidFill>
            <a:srgbClr val="DEC878"/>
          </a:solidFill>
          <a:ln w="1270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8934630"/>
              </p:ext>
            </p:extLst>
          </p:nvPr>
        </p:nvGraphicFramePr>
        <p:xfrm>
          <a:off x="347472" y="1115568"/>
          <a:ext cx="8449056" cy="382219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61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4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46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6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 UI layer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Presents workflows and handles user interaction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 err="1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</a:t>
                      </a: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/components/common.tsx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6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 / UI integration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Stations, map markers, route visualization, fallback map support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src/MapView.tsx  ·  src/features/reservation/ReserveStep.tsx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6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/ routing layer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endpoints grouped by subsystem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server/app.ts  ·  server/routes/*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6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services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RBAC, audit, notifications, reports, reservation/session logic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server/services/*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6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rules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Validation, money conversion, reservation rules, cost calc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server/domain.ts  ·  src/shared/*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46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Repository / data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Persistent storage and entity relationships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prisma/schema.prisma  ·  server/db.ts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46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 / demo data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users, stations, chargers, wallet, audit baseline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server/seedData.ts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46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testing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 and release confidence for main workflows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tests/api.test.ts  ·  tests/domain.test.ts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5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ARCHITECTURE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84048" y="420624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Subsystem Mapping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8375904" cy="22860"/>
          </a:xfrm>
          <a:prstGeom prst="rect">
            <a:avLst/>
          </a:prstGeom>
          <a:solidFill>
            <a:srgbClr val="DEC878"/>
          </a:solidFill>
          <a:ln w="1270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286166"/>
              </p:ext>
            </p:extLst>
          </p:nvPr>
        </p:nvGraphicFramePr>
        <p:xfrm>
          <a:off x="256032" y="1097280"/>
          <a:ext cx="8631936" cy="3822192"/>
        </p:xfrm>
        <a:graphic>
          <a:graphicData uri="http://schemas.openxmlformats.org/drawingml/2006/table">
            <a:tbl>
              <a:tblPr/>
              <a:tblGrid>
                <a:gridCol w="11512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7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70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7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58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099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7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Subsystem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Module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Route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/ Domain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Models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 Registration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VehicleStep.tsx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routes/vehicles.ts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vehicle validation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User, Vehicle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EDR-01,02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SDR-01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 &amp; Reservation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ReserveStep.tsx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MapView.tsx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routes/system.ts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routes/reservations.ts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75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station</a:t>
                      </a:r>
                      <a:r>
                        <a:rPr lang="tr-TR" sz="7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+ </a:t>
                      </a:r>
                      <a:r>
                        <a:rPr lang="tr-TR" sz="75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reservation</a:t>
                      </a:r>
                      <a:r>
                        <a:rPr lang="tr-TR" sz="7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tr-TR" sz="75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services</a:t>
                      </a:r>
                      <a:r>
                        <a:rPr lang="tr-TR" sz="7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reservation rules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 err="1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ChargingStation</a:t>
                      </a:r>
                      <a:r>
                        <a:rPr lang="en-US" sz="75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, </a:t>
                      </a: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Charger</a:t>
                      </a:r>
                      <a:r>
                        <a:rPr lang="en-US" sz="75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, </a:t>
                      </a: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Reservation</a:t>
                      </a:r>
                      <a:r>
                        <a:rPr lang="en-US" sz="75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, </a:t>
                      </a: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EDR-03–08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EDR-15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MNS-01–07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Charging Session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ChargeStep.tsx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routes/sessions.ts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sessions svc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calculation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 err="1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ChargingSession</a:t>
                      </a:r>
                      <a:r>
                        <a:rPr lang="en-US" sz="75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, </a:t>
                      </a: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Reservation</a:t>
                      </a:r>
                      <a:r>
                        <a:rPr lang="en-US" sz="75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, </a:t>
                      </a: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EDR-09,17,18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PWS-02,08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Wallet &amp; Receipts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WalletStep.tsx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routes/wallet.ts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money conversion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receipt generation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Wallet</a:t>
                      </a:r>
                      <a:r>
                        <a:rPr lang="en-US" sz="75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, </a:t>
                      </a: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PWS-01–07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GRR-01–04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 Maintenance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OpsStep.tsx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routes/operator.ts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routes/issues.ts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refund/release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Charger</a:t>
                      </a:r>
                      <a:r>
                        <a:rPr lang="en-US" sz="75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, </a:t>
                      </a:r>
                      <a:r>
                        <a:rPr lang="en-US" sz="750" dirty="0" err="1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ChargingStation</a:t>
                      </a:r>
                      <a:r>
                        <a:rPr lang="en-US" sz="75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, </a:t>
                      </a:r>
                      <a:r>
                        <a:rPr lang="en-US" sz="750" dirty="0" err="1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IssueReport</a:t>
                      </a:r>
                      <a:r>
                        <a:rPr lang="en-US" sz="75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, </a:t>
                      </a: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SOR-01–06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EDR-12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Reporting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OpsStep.tsx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(admin view)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routes/admin.ts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routes/reports.ts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reports service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User, Reservation</a:t>
                      </a:r>
                      <a:r>
                        <a:rPr lang="en-US" sz="75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, </a:t>
                      </a:r>
                      <a:r>
                        <a:rPr lang="en-US" sz="750" dirty="0" err="1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ChargingSession</a:t>
                      </a:r>
                      <a:r>
                        <a:rPr lang="en-US" sz="75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, </a:t>
                      </a:r>
                      <a:r>
                        <a:rPr lang="en-US" sz="750" dirty="0" err="1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IssueReport</a:t>
                      </a:r>
                      <a:r>
                        <a:rPr lang="en-US" sz="75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, </a:t>
                      </a: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ADR-01–08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7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&amp; Audit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EvidenceStep.tsx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routes/security.ts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routes/audit.ts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auth/audit services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 err="1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AuditLog</a:t>
                      </a:r>
                      <a:r>
                        <a:rPr lang="en-US" sz="75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, </a:t>
                      </a:r>
                      <a:r>
                        <a:rPr lang="en-US" sz="750" dirty="0" err="1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FailedLoginAttempt</a:t>
                      </a:r>
                      <a:r>
                        <a:rPr lang="en-US" sz="75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, </a:t>
                      </a: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SDR-01–05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ADR-06,07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5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ARCHITECTURE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84048" y="420624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Components Are Interconnected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8375904" cy="22860"/>
          </a:xfrm>
          <a:prstGeom prst="rect">
            <a:avLst/>
          </a:prstGeom>
          <a:solidFill>
            <a:srgbClr val="DEC878"/>
          </a:solidFill>
          <a:ln w="1270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384048" y="1097280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FLOW — UC-2 RESERVATION EXAMPLE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84048" y="1408176"/>
            <a:ext cx="274320" cy="274320"/>
          </a:xfrm>
          <a:prstGeom prst="ellipse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384048" y="14081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49808" y="1353312"/>
            <a:ext cx="420624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749808" y="1353312"/>
            <a:ext cx="36576" cy="384048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877824" y="1399032"/>
            <a:ext cx="3986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ReserveStep displays station markers and available slots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21208" y="1682496"/>
            <a:ext cx="0" cy="146304"/>
          </a:xfrm>
          <a:prstGeom prst="line">
            <a:avLst/>
          </a:prstGeom>
          <a:noFill/>
          <a:ln w="1016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384048" y="1883664"/>
            <a:ext cx="274320" cy="274320"/>
          </a:xfrm>
          <a:prstGeom prst="ellipse">
            <a:avLst/>
          </a:prstGeom>
          <a:solidFill>
            <a:srgbClr val="2A5A8A"/>
          </a:solidFill>
          <a:ln w="12700">
            <a:solidFill>
              <a:srgbClr val="2A5A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384048" y="18836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49808" y="1828800"/>
            <a:ext cx="420624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749808" y="1828800"/>
            <a:ext cx="36576" cy="384048"/>
          </a:xfrm>
          <a:prstGeom prst="rect">
            <a:avLst/>
          </a:prstGeom>
          <a:solidFill>
            <a:srgbClr val="2A5A8A"/>
          </a:solidFill>
          <a:ln w="12700">
            <a:solidFill>
              <a:srgbClr val="2A5A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877824" y="1874520"/>
            <a:ext cx="3986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sends REST/JSON reservation request with demo RBAC headers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21208" y="2157984"/>
            <a:ext cx="0" cy="146304"/>
          </a:xfrm>
          <a:prstGeom prst="line">
            <a:avLst/>
          </a:prstGeom>
          <a:noFill/>
          <a:ln w="1016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384048" y="2359152"/>
            <a:ext cx="274320" cy="274320"/>
          </a:xfrm>
          <a:prstGeom prst="ellipse">
            <a:avLst/>
          </a:prstGeom>
          <a:solidFill>
            <a:srgbClr val="5A3A7A"/>
          </a:solidFill>
          <a:ln w="12700">
            <a:solidFill>
              <a:srgbClr val="5A3A7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384048" y="2359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49808" y="2304288"/>
            <a:ext cx="420624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749808" y="2304288"/>
            <a:ext cx="36576" cy="384048"/>
          </a:xfrm>
          <a:prstGeom prst="rect">
            <a:avLst/>
          </a:prstGeom>
          <a:solidFill>
            <a:srgbClr val="5A3A7A"/>
          </a:solidFill>
          <a:ln w="12700">
            <a:solidFill>
              <a:srgbClr val="5A3A7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877824" y="2350008"/>
            <a:ext cx="3986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routes/reservations.ts validates request data and user scope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21208" y="2633472"/>
            <a:ext cx="0" cy="146304"/>
          </a:xfrm>
          <a:prstGeom prst="line">
            <a:avLst/>
          </a:prstGeom>
          <a:noFill/>
          <a:ln w="1016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384048" y="2834640"/>
            <a:ext cx="274320" cy="274320"/>
          </a:xfrm>
          <a:prstGeom prst="ellipse">
            <a:avLst/>
          </a:prstGeom>
          <a:solidFill>
            <a:srgbClr val="4A7A5A"/>
          </a:solidFill>
          <a:ln w="12700">
            <a:solidFill>
              <a:srgbClr val="4A7A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384048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49808" y="2779776"/>
            <a:ext cx="420624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749808" y="2779776"/>
            <a:ext cx="36576" cy="384048"/>
          </a:xfrm>
          <a:prstGeom prst="rect">
            <a:avLst/>
          </a:prstGeom>
          <a:solidFill>
            <a:srgbClr val="4A7A5A"/>
          </a:solidFill>
          <a:ln w="12700">
            <a:solidFill>
              <a:srgbClr val="4A7A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877824" y="2825496"/>
            <a:ext cx="3986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server/</a:t>
            </a:r>
            <a:r>
              <a:rPr lang="en-US" sz="85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domain.ts</a:t>
            </a:r>
            <a:r>
              <a:rPr lang="en-US" sz="8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compatibility, hours, 2h, 24h, double-booking, wallet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21208" y="3108960"/>
            <a:ext cx="0" cy="146304"/>
          </a:xfrm>
          <a:prstGeom prst="line">
            <a:avLst/>
          </a:prstGeom>
          <a:noFill/>
          <a:ln w="1016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384048" y="3310128"/>
            <a:ext cx="274320" cy="274320"/>
          </a:xfrm>
          <a:prstGeom prst="ellipse">
            <a:avLst/>
          </a:prstGeom>
          <a:solidFill>
            <a:srgbClr val="2A5A8A"/>
          </a:solidFill>
          <a:ln w="12700">
            <a:solidFill>
              <a:srgbClr val="2A5A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384048" y="33101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49808" y="3255264"/>
            <a:ext cx="420624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Shape 31"/>
          <p:cNvSpPr/>
          <p:nvPr/>
        </p:nvSpPr>
        <p:spPr>
          <a:xfrm>
            <a:off x="749808" y="3255264"/>
            <a:ext cx="36576" cy="384048"/>
          </a:xfrm>
          <a:prstGeom prst="rect">
            <a:avLst/>
          </a:prstGeom>
          <a:solidFill>
            <a:srgbClr val="2A5A8A"/>
          </a:solidFill>
          <a:ln w="12700">
            <a:solidFill>
              <a:srgbClr val="2A5A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877824" y="3300984"/>
            <a:ext cx="3986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service persists reservation, wallet hold, and transaction through Prisma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21208" y="3584448"/>
            <a:ext cx="0" cy="146304"/>
          </a:xfrm>
          <a:prstGeom prst="line">
            <a:avLst/>
          </a:prstGeom>
          <a:noFill/>
          <a:ln w="1016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Shape 34"/>
          <p:cNvSpPr/>
          <p:nvPr/>
        </p:nvSpPr>
        <p:spPr>
          <a:xfrm>
            <a:off x="384048" y="3785616"/>
            <a:ext cx="274320" cy="274320"/>
          </a:xfrm>
          <a:prstGeom prst="ellipse">
            <a:avLst/>
          </a:prstGeom>
          <a:solidFill>
            <a:srgbClr val="5A3A7A"/>
          </a:solidFill>
          <a:ln w="12700">
            <a:solidFill>
              <a:srgbClr val="5A3A7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384048" y="37856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49808" y="3730752"/>
            <a:ext cx="420624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Shape 37"/>
          <p:cNvSpPr/>
          <p:nvPr/>
        </p:nvSpPr>
        <p:spPr>
          <a:xfrm>
            <a:off x="749808" y="3730752"/>
            <a:ext cx="36576" cy="384048"/>
          </a:xfrm>
          <a:prstGeom prst="rect">
            <a:avLst/>
          </a:prstGeom>
          <a:solidFill>
            <a:srgbClr val="5A3A7A"/>
          </a:solidFill>
          <a:ln w="12700">
            <a:solidFill>
              <a:srgbClr val="5A3A7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877824" y="3776472"/>
            <a:ext cx="3986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and audit services record the event (cross-cutting)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21208" y="4059936"/>
            <a:ext cx="0" cy="146304"/>
          </a:xfrm>
          <a:prstGeom prst="line">
            <a:avLst/>
          </a:prstGeom>
          <a:noFill/>
          <a:ln w="1016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Shape 40"/>
          <p:cNvSpPr/>
          <p:nvPr/>
        </p:nvSpPr>
        <p:spPr>
          <a:xfrm>
            <a:off x="384048" y="4261104"/>
            <a:ext cx="274320" cy="274320"/>
          </a:xfrm>
          <a:prstGeom prst="ellipse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384048" y="42611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49808" y="4206240"/>
            <a:ext cx="420624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Shape 43"/>
          <p:cNvSpPr/>
          <p:nvPr/>
        </p:nvSpPr>
        <p:spPr>
          <a:xfrm>
            <a:off x="749808" y="4206240"/>
            <a:ext cx="36576" cy="384048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6" name="Text 44"/>
          <p:cNvSpPr/>
          <p:nvPr/>
        </p:nvSpPr>
        <p:spPr>
          <a:xfrm>
            <a:off x="877824" y="4251960"/>
            <a:ext cx="3986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refreshes bootstrap data and shows confirmation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230368" y="1097280"/>
            <a:ext cx="3602736" cy="3858768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101600" dist="38100" dir="8100000" algn="bl" rotWithShape="0">
              <a:srgbClr val="B8A898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8" name="Shape 46"/>
          <p:cNvSpPr/>
          <p:nvPr/>
        </p:nvSpPr>
        <p:spPr>
          <a:xfrm>
            <a:off x="5230368" y="1097280"/>
            <a:ext cx="3602736" cy="54864"/>
          </a:xfrm>
          <a:prstGeom prst="rect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9" name="Text 47"/>
          <p:cNvSpPr/>
          <p:nvPr/>
        </p:nvSpPr>
        <p:spPr>
          <a:xfrm>
            <a:off x="5340096" y="120700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General Principles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340096" y="1536192"/>
            <a:ext cx="3310128" cy="22860"/>
          </a:xfrm>
          <a:prstGeom prst="rect">
            <a:avLst/>
          </a:prstGeom>
          <a:solidFill>
            <a:srgbClr val="DED8CE"/>
          </a:solidFill>
          <a:ln w="1270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1" name="Text 49"/>
          <p:cNvSpPr/>
          <p:nvPr/>
        </p:nvSpPr>
        <p:spPr>
          <a:xfrm>
            <a:off x="5340096" y="1664208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JSON over REST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340096" y="1920240"/>
            <a:ext cx="3401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payloads are JSON; demo role/user passed as headers.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340096" y="2468880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Routes → Services → Domain → Prisma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340096" y="2724912"/>
            <a:ext cx="3401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validate, call services, services call domain rules, then Prisma writes.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340096" y="3273552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Cross-cutting centralized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340096" y="3529584"/>
            <a:ext cx="3401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data changes, services create notifications and audit records automatically.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340096" y="4078224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Bootstrap refresh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5340096" y="4334256"/>
            <a:ext cx="3401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mutations the UI re-fetches the bootstrap endpoint to stay in sync.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5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ARCHITECTURE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84048" y="420624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Reservation Request Flow — UC-2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8375904" cy="22860"/>
          </a:xfrm>
          <a:prstGeom prst="rect">
            <a:avLst/>
          </a:prstGeom>
          <a:solidFill>
            <a:srgbClr val="DEC878"/>
          </a:solidFill>
          <a:ln w="1270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1042416" y="1408176"/>
            <a:ext cx="365760" cy="365760"/>
          </a:xfrm>
          <a:prstGeom prst="ellipse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1042416" y="14081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13232" y="1865376"/>
            <a:ext cx="1024128" cy="804672"/>
          </a:xfrm>
          <a:prstGeom prst="rect">
            <a:avLst/>
          </a:prstGeom>
          <a:solidFill>
            <a:srgbClr val="1A7A6E"/>
          </a:solidFill>
          <a:ln w="381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713232" y="1920240"/>
            <a:ext cx="1024128" cy="4988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station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time slot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13232" y="2380366"/>
            <a:ext cx="1024128" cy="2896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ED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ReserveStep.tsx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1737360" y="2267712"/>
            <a:ext cx="82296" cy="0"/>
          </a:xfrm>
          <a:prstGeom prst="line">
            <a:avLst/>
          </a:prstGeom>
          <a:noFill/>
          <a:ln w="15240">
            <a:solidFill>
              <a:srgbClr val="B8922A"/>
            </a:solidFill>
            <a:prstDash val="solid"/>
            <a:tailEnd type="none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2148840" y="1408176"/>
            <a:ext cx="365760" cy="365760"/>
          </a:xfrm>
          <a:prstGeom prst="ellipse">
            <a:avLst/>
          </a:prstGeom>
          <a:solidFill>
            <a:srgbClr val="2A5A8A"/>
          </a:solidFill>
          <a:ln w="12700">
            <a:solidFill>
              <a:srgbClr val="2A5A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2148840" y="14081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19656" y="1865376"/>
            <a:ext cx="1024128" cy="804672"/>
          </a:xfrm>
          <a:prstGeom prst="rect">
            <a:avLst/>
          </a:prstGeom>
          <a:solidFill>
            <a:srgbClr val="2A5A8A"/>
          </a:solidFill>
          <a:ln w="381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1819656" y="1920240"/>
            <a:ext cx="1024128" cy="4988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/api/reservations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819656" y="2380366"/>
            <a:ext cx="1024128" cy="2896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ED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client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2843784" y="2267712"/>
            <a:ext cx="82296" cy="0"/>
          </a:xfrm>
          <a:prstGeom prst="line">
            <a:avLst/>
          </a:prstGeom>
          <a:noFill/>
          <a:ln w="15240">
            <a:solidFill>
              <a:srgbClr val="B8922A"/>
            </a:solidFill>
            <a:prstDash val="solid"/>
            <a:tailEnd type="none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3255264" y="1408176"/>
            <a:ext cx="365760" cy="365760"/>
          </a:xfrm>
          <a:prstGeom prst="ellipse">
            <a:avLst/>
          </a:prstGeom>
          <a:solidFill>
            <a:srgbClr val="5A3A7A"/>
          </a:solidFill>
          <a:ln w="12700">
            <a:solidFill>
              <a:srgbClr val="5A3A7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3255264" y="14081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926080" y="1865376"/>
            <a:ext cx="1024128" cy="804672"/>
          </a:xfrm>
          <a:prstGeom prst="rect">
            <a:avLst/>
          </a:prstGeom>
          <a:solidFill>
            <a:srgbClr val="5A3A7A"/>
          </a:solidFill>
          <a:ln w="381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2926080" y="1920240"/>
            <a:ext cx="1024128" cy="4988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schema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926080" y="2380366"/>
            <a:ext cx="1024128" cy="2896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50" dirty="0">
                <a:solidFill>
                  <a:srgbClr val="ED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request validation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3950208" y="2267712"/>
            <a:ext cx="82296" cy="0"/>
          </a:xfrm>
          <a:prstGeom prst="line">
            <a:avLst/>
          </a:prstGeom>
          <a:noFill/>
          <a:ln w="15240">
            <a:solidFill>
              <a:srgbClr val="B8922A"/>
            </a:solidFill>
            <a:prstDash val="solid"/>
            <a:tailEnd type="none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4361688" y="1408176"/>
            <a:ext cx="365760" cy="365760"/>
          </a:xfrm>
          <a:prstGeom prst="ellipse">
            <a:avLst/>
          </a:prstGeom>
          <a:solidFill>
            <a:srgbClr val="4A7A5A"/>
          </a:solidFill>
          <a:ln w="12700">
            <a:solidFill>
              <a:srgbClr val="4A7A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4361688" y="14081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032504" y="1865376"/>
            <a:ext cx="1024128" cy="804672"/>
          </a:xfrm>
          <a:prstGeom prst="rect">
            <a:avLst/>
          </a:prstGeom>
          <a:solidFill>
            <a:srgbClr val="4A7A5A"/>
          </a:solidFill>
          <a:ln w="381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4032504" y="1920240"/>
            <a:ext cx="1024128" cy="4988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domain.ts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032504" y="2380366"/>
            <a:ext cx="1024128" cy="2896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50" dirty="0">
                <a:solidFill>
                  <a:srgbClr val="ED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constraints enforced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5056632" y="2267712"/>
            <a:ext cx="82296" cy="0"/>
          </a:xfrm>
          <a:prstGeom prst="line">
            <a:avLst/>
          </a:prstGeom>
          <a:noFill/>
          <a:ln w="15240">
            <a:solidFill>
              <a:srgbClr val="B8922A"/>
            </a:solidFill>
            <a:prstDash val="solid"/>
            <a:tailEnd type="none"/>
          </a:ln>
        </p:spPr>
        <p:txBody>
          <a:bodyPr/>
          <a:lstStyle/>
          <a:p>
            <a:endParaRPr lang="tr-TR"/>
          </a:p>
        </p:txBody>
      </p:sp>
      <p:sp>
        <p:nvSpPr>
          <p:cNvPr id="29" name="Shape 27"/>
          <p:cNvSpPr/>
          <p:nvPr/>
        </p:nvSpPr>
        <p:spPr>
          <a:xfrm>
            <a:off x="5468112" y="1408176"/>
            <a:ext cx="365760" cy="365760"/>
          </a:xfrm>
          <a:prstGeom prst="ellipse">
            <a:avLst/>
          </a:prstGeom>
          <a:solidFill>
            <a:srgbClr val="2A5A8A"/>
          </a:solidFill>
          <a:ln w="12700">
            <a:solidFill>
              <a:srgbClr val="2A5A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5468112" y="14081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138928" y="1865376"/>
            <a:ext cx="1024128" cy="804672"/>
          </a:xfrm>
          <a:prstGeom prst="rect">
            <a:avLst/>
          </a:prstGeom>
          <a:solidFill>
            <a:srgbClr val="2A5A8A"/>
          </a:solidFill>
          <a:ln w="381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5138928" y="1920240"/>
            <a:ext cx="1024128" cy="4988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138928" y="2380366"/>
            <a:ext cx="1024128" cy="2896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ED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Wallet hold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6163056" y="2267712"/>
            <a:ext cx="82296" cy="0"/>
          </a:xfrm>
          <a:prstGeom prst="line">
            <a:avLst/>
          </a:prstGeom>
          <a:noFill/>
          <a:ln w="15240">
            <a:solidFill>
              <a:srgbClr val="B8922A"/>
            </a:solidFill>
            <a:prstDash val="solid"/>
            <a:tailEnd type="none"/>
          </a:ln>
        </p:spPr>
        <p:txBody>
          <a:bodyPr/>
          <a:lstStyle/>
          <a:p>
            <a:endParaRPr lang="tr-TR"/>
          </a:p>
        </p:txBody>
      </p:sp>
      <p:sp>
        <p:nvSpPr>
          <p:cNvPr id="35" name="Shape 33"/>
          <p:cNvSpPr/>
          <p:nvPr/>
        </p:nvSpPr>
        <p:spPr>
          <a:xfrm>
            <a:off x="6574536" y="1408176"/>
            <a:ext cx="365760" cy="365760"/>
          </a:xfrm>
          <a:prstGeom prst="ellipse">
            <a:avLst/>
          </a:prstGeom>
          <a:solidFill>
            <a:srgbClr val="5A3A7A"/>
          </a:solidFill>
          <a:ln w="12700">
            <a:solidFill>
              <a:srgbClr val="5A3A7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6574536" y="14081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45352" y="1865376"/>
            <a:ext cx="1024128" cy="804672"/>
          </a:xfrm>
          <a:prstGeom prst="rect">
            <a:avLst/>
          </a:prstGeom>
          <a:solidFill>
            <a:srgbClr val="5A3A7A"/>
          </a:solidFill>
          <a:ln w="381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6245352" y="1920240"/>
            <a:ext cx="1024128" cy="4988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+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245352" y="2380366"/>
            <a:ext cx="1024128" cy="2896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ED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7269480" y="2267712"/>
            <a:ext cx="82296" cy="0"/>
          </a:xfrm>
          <a:prstGeom prst="line">
            <a:avLst/>
          </a:prstGeom>
          <a:noFill/>
          <a:ln w="15240">
            <a:solidFill>
              <a:srgbClr val="B8922A"/>
            </a:solidFill>
            <a:prstDash val="solid"/>
            <a:tailEnd type="none"/>
          </a:ln>
        </p:spPr>
        <p:txBody>
          <a:bodyPr/>
          <a:lstStyle/>
          <a:p>
            <a:endParaRPr lang="tr-TR"/>
          </a:p>
        </p:txBody>
      </p:sp>
      <p:sp>
        <p:nvSpPr>
          <p:cNvPr id="41" name="Shape 39"/>
          <p:cNvSpPr/>
          <p:nvPr/>
        </p:nvSpPr>
        <p:spPr>
          <a:xfrm>
            <a:off x="7680960" y="1408176"/>
            <a:ext cx="365760" cy="365760"/>
          </a:xfrm>
          <a:prstGeom prst="ellipse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Text 40"/>
          <p:cNvSpPr/>
          <p:nvPr/>
        </p:nvSpPr>
        <p:spPr>
          <a:xfrm>
            <a:off x="7680960" y="14081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351776" y="1865376"/>
            <a:ext cx="1024128" cy="804672"/>
          </a:xfrm>
          <a:prstGeom prst="rect">
            <a:avLst/>
          </a:prstGeom>
          <a:solidFill>
            <a:srgbClr val="1A7A6E"/>
          </a:solidFill>
          <a:ln w="381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Text 42"/>
          <p:cNvSpPr/>
          <p:nvPr/>
        </p:nvSpPr>
        <p:spPr>
          <a:xfrm>
            <a:off x="7351776" y="1920240"/>
            <a:ext cx="1024128" cy="4988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JSON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UI refresh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7351776" y="2380366"/>
            <a:ext cx="1024128" cy="2896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ED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4544568" y="2670048"/>
            <a:ext cx="0" cy="347472"/>
          </a:xfrm>
          <a:prstGeom prst="line">
            <a:avLst/>
          </a:prstGeom>
          <a:noFill/>
          <a:ln w="10160">
            <a:solidFill>
              <a:srgbClr val="B8922A"/>
            </a:solidFill>
            <a:prstDash val="dash"/>
          </a:ln>
        </p:spPr>
        <p:txBody>
          <a:bodyPr/>
          <a:lstStyle/>
          <a:p>
            <a:endParaRPr lang="tr-TR"/>
          </a:p>
        </p:txBody>
      </p:sp>
      <p:sp>
        <p:nvSpPr>
          <p:cNvPr id="47" name="Shape 45"/>
          <p:cNvSpPr/>
          <p:nvPr/>
        </p:nvSpPr>
        <p:spPr>
          <a:xfrm>
            <a:off x="3685032" y="3017519"/>
            <a:ext cx="1792224" cy="1705355"/>
          </a:xfrm>
          <a:prstGeom prst="rect">
            <a:avLst/>
          </a:prstGeom>
          <a:solidFill>
            <a:srgbClr val="F5E9CB"/>
          </a:solidFill>
          <a:ln w="635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8" name="Text 46"/>
          <p:cNvSpPr/>
          <p:nvPr/>
        </p:nvSpPr>
        <p:spPr>
          <a:xfrm>
            <a:off x="3739896" y="3090672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 Rules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739896" y="3383280"/>
            <a:ext cx="16824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Connector compatibility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739896" y="3584448"/>
            <a:ext cx="16824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≤ 2h duration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739896" y="3785616"/>
            <a:ext cx="16824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≤ 24h advance window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739896" y="3986784"/>
            <a:ext cx="16824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 double-booking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739896" y="4187952"/>
            <a:ext cx="16824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Wallet balance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3739896" y="4389120"/>
            <a:ext cx="16824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Operating hours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5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ARCHITECTURE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84048" y="420624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Design-to-Implementation Traceability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8375904" cy="22860"/>
          </a:xfrm>
          <a:prstGeom prst="rect">
            <a:avLst/>
          </a:prstGeom>
          <a:solidFill>
            <a:srgbClr val="DEC878"/>
          </a:solidFill>
          <a:ln w="1270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384048" y="10972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18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PRINCIPLE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462272" y="1097280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18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REALITY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334256" y="1051560"/>
            <a:ext cx="0" cy="3950208"/>
          </a:xfrm>
          <a:prstGeom prst="line">
            <a:avLst/>
          </a:prstGeom>
          <a:noFill/>
          <a:ln w="635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384048" y="1353312"/>
            <a:ext cx="3803904" cy="603504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384048" y="1353312"/>
            <a:ext cx="45720" cy="603504"/>
          </a:xfrm>
          <a:prstGeom prst="rect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512064" y="149961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Layered architecture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87952" y="1655064"/>
            <a:ext cx="274320" cy="0"/>
          </a:xfrm>
          <a:prstGeom prst="line">
            <a:avLst/>
          </a:prstGeom>
          <a:noFill/>
          <a:ln w="12700">
            <a:solidFill>
              <a:srgbClr val="B8922A"/>
            </a:solidFill>
            <a:prstDash val="solid"/>
            <a:tailEnd type="none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4462272" y="1353312"/>
            <a:ext cx="4297680" cy="603504"/>
          </a:xfrm>
          <a:prstGeom prst="rect">
            <a:avLst/>
          </a:prstGeom>
          <a:solidFill>
            <a:srgbClr val="E0F2E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4590288" y="1389888"/>
            <a:ext cx="4078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components never access Prisma directly, they call REST endpoints only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90288" y="1755648"/>
            <a:ext cx="40782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7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src/features/* → fetch → server/routes/*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84048" y="2048256"/>
            <a:ext cx="3803904" cy="603504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384048" y="2048256"/>
            <a:ext cx="45720" cy="603504"/>
          </a:xfrm>
          <a:prstGeom prst="rect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512064" y="21945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Client-server architecture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87952" y="2350008"/>
            <a:ext cx="274320" cy="0"/>
          </a:xfrm>
          <a:prstGeom prst="line">
            <a:avLst/>
          </a:prstGeom>
          <a:noFill/>
          <a:ln w="12700">
            <a:solidFill>
              <a:srgbClr val="B8922A"/>
            </a:solidFill>
            <a:prstDash val="solid"/>
            <a:tailEnd type="none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4462272" y="2048256"/>
            <a:ext cx="4297680" cy="603504"/>
          </a:xfrm>
          <a:prstGeom prst="rect">
            <a:avLst/>
          </a:prstGeom>
          <a:solidFill>
            <a:srgbClr val="E0F2E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4590288" y="2084832"/>
            <a:ext cx="4078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src/features/* runs in browser; server/routes/* runs in Node/Express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90288" y="2450592"/>
            <a:ext cx="40782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dirty="0">
                <a:solidFill>
                  <a:srgbClr val="1A7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 and backend separated by REST API boundary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84048" y="2743200"/>
            <a:ext cx="3803904" cy="603504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384048" y="2743200"/>
            <a:ext cx="45720" cy="603504"/>
          </a:xfrm>
          <a:prstGeom prst="rect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512064" y="288950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Repository pattern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87952" y="3044952"/>
            <a:ext cx="274320" cy="0"/>
          </a:xfrm>
          <a:prstGeom prst="line">
            <a:avLst/>
          </a:prstGeom>
          <a:noFill/>
          <a:ln w="12700">
            <a:solidFill>
              <a:srgbClr val="B8922A"/>
            </a:solidFill>
            <a:prstDash val="solid"/>
            <a:tailEnd type="none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4462272" y="2743200"/>
            <a:ext cx="4297680" cy="603504"/>
          </a:xfrm>
          <a:prstGeom prst="rect">
            <a:avLst/>
          </a:prstGeom>
          <a:solidFill>
            <a:srgbClr val="E0F2E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4590288" y="2779776"/>
            <a:ext cx="4078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persistent state centralised in Prisma/SQLite, not duplicated per subsystem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90288" y="3145536"/>
            <a:ext cx="40782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7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prisma/schema.prisma  ·  server/db.ts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84048" y="3438144"/>
            <a:ext cx="3803904" cy="603504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384048" y="3438144"/>
            <a:ext cx="45720" cy="603504"/>
          </a:xfrm>
          <a:prstGeom prst="rect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512064" y="358444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 separation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87952" y="3739896"/>
            <a:ext cx="274320" cy="0"/>
          </a:xfrm>
          <a:prstGeom prst="line">
            <a:avLst/>
          </a:prstGeom>
          <a:noFill/>
          <a:ln w="12700">
            <a:solidFill>
              <a:srgbClr val="B8922A"/>
            </a:solidFill>
            <a:prstDash val="solid"/>
            <a:tailEnd type="none"/>
          </a:ln>
        </p:spPr>
        <p:txBody>
          <a:bodyPr/>
          <a:lstStyle/>
          <a:p>
            <a:endParaRPr lang="tr-TR"/>
          </a:p>
        </p:txBody>
      </p:sp>
      <p:sp>
        <p:nvSpPr>
          <p:cNvPr id="33" name="Shape 31"/>
          <p:cNvSpPr/>
          <p:nvPr/>
        </p:nvSpPr>
        <p:spPr>
          <a:xfrm>
            <a:off x="4462272" y="3438144"/>
            <a:ext cx="4297680" cy="603504"/>
          </a:xfrm>
          <a:prstGeom prst="rect">
            <a:avLst/>
          </a:prstGeom>
          <a:solidFill>
            <a:srgbClr val="E0F2E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4590288" y="3474720"/>
            <a:ext cx="4078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calculation, reservation rules and validation in server/</a:t>
            </a:r>
            <a:r>
              <a:rPr lang="en-US" sz="90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domain.ts</a:t>
            </a:r>
            <a:r>
              <a:rPr lang="en-US" sz="9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UI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90288" y="3840480"/>
            <a:ext cx="40782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7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server/domain.ts  ·  src/shared/* (Zod shared both sides)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84048" y="4133088"/>
            <a:ext cx="3803904" cy="603504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Shape 35"/>
          <p:cNvSpPr/>
          <p:nvPr/>
        </p:nvSpPr>
        <p:spPr>
          <a:xfrm>
            <a:off x="384048" y="4133088"/>
            <a:ext cx="45720" cy="603504"/>
          </a:xfrm>
          <a:prstGeom prst="rect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512064" y="42793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Cross-cutting concerns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187952" y="4434840"/>
            <a:ext cx="274320" cy="0"/>
          </a:xfrm>
          <a:prstGeom prst="line">
            <a:avLst/>
          </a:prstGeom>
          <a:noFill/>
          <a:ln w="12700">
            <a:solidFill>
              <a:srgbClr val="B8922A"/>
            </a:solidFill>
            <a:prstDash val="solid"/>
            <a:tailEnd type="none"/>
          </a:ln>
        </p:spPr>
        <p:txBody>
          <a:bodyPr/>
          <a:lstStyle/>
          <a:p>
            <a:endParaRPr lang="tr-TR"/>
          </a:p>
        </p:txBody>
      </p:sp>
      <p:sp>
        <p:nvSpPr>
          <p:cNvPr id="40" name="Shape 38"/>
          <p:cNvSpPr/>
          <p:nvPr/>
        </p:nvSpPr>
        <p:spPr>
          <a:xfrm>
            <a:off x="4462272" y="4133088"/>
            <a:ext cx="4297680" cy="603504"/>
          </a:xfrm>
          <a:prstGeom prst="rect">
            <a:avLst/>
          </a:prstGeom>
          <a:solidFill>
            <a:srgbClr val="E0F2E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Text 39"/>
          <p:cNvSpPr/>
          <p:nvPr/>
        </p:nvSpPr>
        <p:spPr>
          <a:xfrm>
            <a:off x="4590288" y="4169664"/>
            <a:ext cx="4078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RBAC, audit hash-chain, notifications and reporting centralised in services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90288" y="4535424"/>
            <a:ext cx="40782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7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server/services/* (auth, audit, reports, stations, sessions)</a:t>
            </a:r>
            <a:endParaRPr lang="en-US" sz="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029200" y="182880"/>
            <a:ext cx="4114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2A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475488" y="1417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5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75488" y="1719072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8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 Design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475488" y="2816352"/>
            <a:ext cx="4114800" cy="22860"/>
          </a:xfrm>
          <a:prstGeom prst="rect">
            <a:avLst/>
          </a:prstGeom>
          <a:solidFill>
            <a:srgbClr val="D4A83A"/>
          </a:solidFill>
          <a:ln w="12700">
            <a:solidFill>
              <a:srgbClr val="D4A83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75488" y="296265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· Role-Based Views · Screens · Help Guides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5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UI DESIGN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84048" y="420624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 Design Criteria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8375904" cy="22860"/>
          </a:xfrm>
          <a:prstGeom prst="rect">
            <a:avLst/>
          </a:prstGeom>
          <a:solidFill>
            <a:srgbClr val="DEC878"/>
          </a:solidFill>
          <a:ln w="1270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384048" y="1097280"/>
            <a:ext cx="6601968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UI is built as an operational dashboard; fast repeated actions, readable status, clear feedback.</a:t>
            </a:r>
            <a:endParaRPr lang="tr-TR" sz="950" i="1" dirty="0">
              <a:solidFill>
                <a:srgbClr val="7A72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84048" y="1609344"/>
            <a:ext cx="2011680" cy="1300206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50800" dist="25400" dir="8100000" algn="bl" rotWithShape="0">
              <a:srgbClr val="B8A898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384048" y="1609344"/>
            <a:ext cx="2011680" cy="50292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493776" y="170078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" y="200253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Consistent Navigation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93776" y="2286000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groups driver, operator and system workflows. Same layout logic across all screens.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1609344"/>
            <a:ext cx="2011680" cy="1300206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50800" dist="25400" dir="8100000" algn="bl" rotWithShape="0">
              <a:srgbClr val="B8A898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2395728" y="1609344"/>
            <a:ext cx="2011680" cy="50292"/>
          </a:xfrm>
          <a:prstGeom prst="rect">
            <a:avLst/>
          </a:prstGeom>
          <a:solidFill>
            <a:srgbClr val="2A5A8A"/>
          </a:solidFill>
          <a:ln w="12700">
            <a:solidFill>
              <a:srgbClr val="2A5A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2505456" y="170078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5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05456" y="200253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Role-Based User Diversity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05456" y="2286000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Role/account switch in UI. Protected APIs still enforce RBAC regardless of UI context.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4407408" y="1609344"/>
            <a:ext cx="2011680" cy="1300206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50800" dist="25400" dir="8100000" algn="bl" rotWithShape="0">
              <a:srgbClr val="B8A898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4407408" y="1609344"/>
            <a:ext cx="2011680" cy="50292"/>
          </a:xfrm>
          <a:prstGeom prst="rect">
            <a:avLst/>
          </a:prstGeom>
          <a:solidFill>
            <a:srgbClr val="4A7A5A"/>
          </a:solidFill>
          <a:ln w="12700">
            <a:solidFill>
              <a:srgbClr val="4A7A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4517136" y="170078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7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17136" y="200253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Readable Information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17136" y="2286000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Cards, metric tiles, tables, dark mode and status pills show balance, station status, reports and audit records.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6419088" y="1609344"/>
            <a:ext cx="2011680" cy="1300206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50800" dist="25400" dir="8100000" algn="bl" rotWithShape="0">
              <a:srgbClr val="B8A898">
                <a:alpha val="12000"/>
              </a:srgbClr>
            </a:outerShdw>
          </a:effectLst>
        </p:spPr>
        <p:txBody>
          <a:bodyPr/>
          <a:lstStyle/>
          <a:p>
            <a:endParaRPr lang="tr-TR" dirty="0"/>
          </a:p>
        </p:txBody>
      </p:sp>
      <p:sp>
        <p:nvSpPr>
          <p:cNvPr id="22" name="Shape 20"/>
          <p:cNvSpPr/>
          <p:nvPr/>
        </p:nvSpPr>
        <p:spPr>
          <a:xfrm>
            <a:off x="6419088" y="1609344"/>
            <a:ext cx="2011680" cy="50292"/>
          </a:xfrm>
          <a:prstGeom prst="rect">
            <a:avLst/>
          </a:prstGeom>
          <a:solidFill>
            <a:srgbClr val="5A3A7A"/>
          </a:solidFill>
          <a:ln w="12700">
            <a:solidFill>
              <a:srgbClr val="5A3A7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6528816" y="170078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3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28816" y="200253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Appropriate </a:t>
            </a:r>
            <a:r>
              <a:rPr lang="tr-TR" sz="950" b="1" dirty="0" err="1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Interaction</a:t>
            </a:r>
            <a:r>
              <a:rPr lang="tr-TR" sz="95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tr-TR" sz="950" b="1" dirty="0" err="1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Styles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528816" y="2286000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for role/status/charger, buttons for commands, sliders for SoC, numeric inputs, checkbox toggles for simulations.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406556" y="3064998"/>
            <a:ext cx="2578608" cy="1133856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50800" dist="25400" dir="8100000" algn="bl" rotWithShape="0">
              <a:srgbClr val="B8A898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406556" y="3064998"/>
            <a:ext cx="2578608" cy="50292"/>
          </a:xfrm>
          <a:prstGeom prst="rect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534572" y="315643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4572" y="345819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Same-Page Validation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34572" y="374165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disables invalid reservation actions. API errors appear in the notice panel on the same page.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3113180" y="3064998"/>
            <a:ext cx="2578608" cy="1133856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50800" dist="25400" dir="8100000" algn="bl" rotWithShape="0">
              <a:srgbClr val="B8A898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2" name="Shape 30"/>
          <p:cNvSpPr/>
          <p:nvPr/>
        </p:nvSpPr>
        <p:spPr>
          <a:xfrm>
            <a:off x="3113180" y="3064998"/>
            <a:ext cx="2578608" cy="50292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3241196" y="315643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41196" y="345819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Map-Oriented Discovery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241196" y="374165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MapView.tsx uses Google Maps when a key is configured. Falls back to a compatible text/list map automatically.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5819804" y="3064998"/>
            <a:ext cx="2578608" cy="1133856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50800" dist="25400" dir="8100000" algn="bl" rotWithShape="0">
              <a:srgbClr val="B8A898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7" name="Shape 35"/>
          <p:cNvSpPr/>
          <p:nvPr/>
        </p:nvSpPr>
        <p:spPr>
          <a:xfrm>
            <a:off x="5819804" y="3064998"/>
            <a:ext cx="2578608" cy="50292"/>
          </a:xfrm>
          <a:prstGeom prst="rect">
            <a:avLst/>
          </a:prstGeom>
          <a:solidFill>
            <a:srgbClr val="8A3030"/>
          </a:solidFill>
          <a:ln w="12700">
            <a:solidFill>
              <a:srgbClr val="8A3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5947820" y="315643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947820" y="345819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Transparency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947820" y="374165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Wallet, transaction history, receipt numbers, refund results and charging history visible in wallet screen.</a:t>
            </a:r>
            <a:endParaRPr lang="en-US" sz="78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5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UI DESIGN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84048" y="420624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 Principles Applied in Voltline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8375904" cy="22860"/>
          </a:xfrm>
          <a:prstGeom prst="rect">
            <a:avLst/>
          </a:prstGeom>
          <a:solidFill>
            <a:srgbClr val="DEC878"/>
          </a:solidFill>
          <a:ln w="1270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384048" y="1097280"/>
            <a:ext cx="8375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950" i="1" dirty="0" err="1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r>
              <a:rPr lang="en-US" sz="950" i="1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UI design follows the </a:t>
            </a:r>
            <a:r>
              <a:rPr lang="tr-TR" sz="950" i="1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</a:t>
            </a:r>
            <a:r>
              <a:rPr lang="en-US" sz="950" i="1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r>
              <a:rPr lang="tr-TR" sz="950" i="1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950" i="1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interfaces should match users' skills, expectations and working environment</a:t>
            </a:r>
            <a:r>
              <a:rPr lang="tr-TR" sz="950" i="1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84048" y="1444752"/>
            <a:ext cx="2706624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50800" dist="25400" dir="8100000" algn="bl" rotWithShape="0">
              <a:srgbClr val="B8A898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384048" y="1444752"/>
            <a:ext cx="2706624" cy="54864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512064" y="15727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1591056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Familiarity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2064" y="1947672"/>
            <a:ext cx="2450592" cy="22860"/>
          </a:xfrm>
          <a:prstGeom prst="rect">
            <a:avLst/>
          </a:prstGeom>
          <a:solidFill>
            <a:srgbClr val="DED8CE"/>
          </a:solidFill>
          <a:ln w="1270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512064" y="2011680"/>
            <a:ext cx="2487168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terms users already know: vehicle, charger, reservation, wallet, receipt. Technical database/API concepts hidden from end users.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18688" y="1444752"/>
            <a:ext cx="2706624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50800" dist="25400" dir="8100000" algn="bl" rotWithShape="0">
              <a:srgbClr val="B8A898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3218688" y="1444752"/>
            <a:ext cx="2706624" cy="54864"/>
          </a:xfrm>
          <a:prstGeom prst="rect">
            <a:avLst/>
          </a:prstGeom>
          <a:solidFill>
            <a:srgbClr val="2A5A8A"/>
          </a:solidFill>
          <a:ln w="12700">
            <a:solidFill>
              <a:srgbClr val="2A5A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3346704" y="15727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5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58768" y="1591056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Consistency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46704" y="1947672"/>
            <a:ext cx="2450592" cy="22860"/>
          </a:xfrm>
          <a:prstGeom prst="rect">
            <a:avLst/>
          </a:prstGeom>
          <a:solidFill>
            <a:srgbClr val="DED8CE"/>
          </a:solidFill>
          <a:ln w="1270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3346704" y="2011680"/>
            <a:ext cx="2487168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Driver, Operator and Admin screens share the same sidebar logic, card structure, button language, status pills and form patterns.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053328" y="1444752"/>
            <a:ext cx="2706624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50800" dist="25400" dir="8100000" algn="bl" rotWithShape="0">
              <a:srgbClr val="B8A898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6053328" y="1444752"/>
            <a:ext cx="2706624" cy="54864"/>
          </a:xfrm>
          <a:prstGeom prst="rect">
            <a:avLst/>
          </a:prstGeom>
          <a:solidFill>
            <a:srgbClr val="4A7A5A"/>
          </a:solidFill>
          <a:ln w="12700">
            <a:solidFill>
              <a:srgbClr val="4A7A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6181344" y="15727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7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93408" y="1591056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Minimal Surprise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81344" y="1947672"/>
            <a:ext cx="2450592" cy="22860"/>
          </a:xfrm>
          <a:prstGeom prst="rect">
            <a:avLst/>
          </a:prstGeom>
          <a:solidFill>
            <a:srgbClr val="DED8CE"/>
          </a:solidFill>
          <a:ln w="1270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6181344" y="2011680"/>
            <a:ext cx="2487168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commands behave the same way: Save Vehicle, Reserve Slot, Start Charging, Complete Session, Top up, Update Status.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84048" y="3127248"/>
            <a:ext cx="2706624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50800" dist="25400" dir="8100000" algn="bl" rotWithShape="0">
              <a:srgbClr val="B8A898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384048" y="3127248"/>
            <a:ext cx="2706624" cy="54864"/>
          </a:xfrm>
          <a:prstGeom prst="rect">
            <a:avLst/>
          </a:prstGeom>
          <a:solidFill>
            <a:srgbClr val="5A3A7A"/>
          </a:solidFill>
          <a:ln w="12700">
            <a:solidFill>
              <a:srgbClr val="5A3A7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512064" y="32552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3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24128" y="327355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Recoverability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12064" y="3630168"/>
            <a:ext cx="2450592" cy="22860"/>
          </a:xfrm>
          <a:prstGeom prst="rect">
            <a:avLst/>
          </a:prstGeom>
          <a:solidFill>
            <a:srgbClr val="DED8CE"/>
          </a:solidFill>
          <a:ln w="1270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512064" y="3694176"/>
            <a:ext cx="2487168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Cancellation/refund, sync recovery, safe interruption, out-of-service cascade and explicit confirmations support recovery from errors.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218688" y="3127248"/>
            <a:ext cx="2706624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50800" dist="25400" dir="8100000" algn="bl" rotWithShape="0">
              <a:srgbClr val="B8A898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9" name="Shape 37"/>
          <p:cNvSpPr/>
          <p:nvPr/>
        </p:nvSpPr>
        <p:spPr>
          <a:xfrm>
            <a:off x="3218688" y="3127248"/>
            <a:ext cx="2706624" cy="54864"/>
          </a:xfrm>
          <a:prstGeom prst="rect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3346704" y="32552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858768" y="327355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Guidance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346704" y="3630168"/>
            <a:ext cx="2450592" cy="22860"/>
          </a:xfrm>
          <a:prstGeom prst="rect">
            <a:avLst/>
          </a:prstGeom>
          <a:solidFill>
            <a:srgbClr val="DED8CE"/>
          </a:solidFill>
          <a:ln w="1270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Text 43"/>
          <p:cNvSpPr/>
          <p:nvPr/>
        </p:nvSpPr>
        <p:spPr>
          <a:xfrm>
            <a:off x="3346704" y="3694176"/>
            <a:ext cx="2487168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role has its own built-in Help Guide and FAQ: Driver Guide, Operator Guide and Admin Guide / Reference.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053328" y="3127248"/>
            <a:ext cx="2706624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50800" dist="25400" dir="8100000" algn="bl" rotWithShape="0">
              <a:srgbClr val="B8A898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7" name="Shape 45"/>
          <p:cNvSpPr/>
          <p:nvPr/>
        </p:nvSpPr>
        <p:spPr>
          <a:xfrm>
            <a:off x="6053328" y="3127248"/>
            <a:ext cx="2706624" cy="54864"/>
          </a:xfrm>
          <a:prstGeom prst="rect">
            <a:avLst/>
          </a:prstGeom>
          <a:solidFill>
            <a:srgbClr val="8A3030"/>
          </a:solidFill>
          <a:ln w="12700">
            <a:solidFill>
              <a:srgbClr val="8A3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8" name="Text 46"/>
          <p:cNvSpPr/>
          <p:nvPr/>
        </p:nvSpPr>
        <p:spPr>
          <a:xfrm>
            <a:off x="6181344" y="32552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693408" y="327355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Diversity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181344" y="3630168"/>
            <a:ext cx="2450592" cy="22860"/>
          </a:xfrm>
          <a:prstGeom prst="rect">
            <a:avLst/>
          </a:prstGeom>
          <a:solidFill>
            <a:srgbClr val="DED8CE"/>
          </a:solidFill>
          <a:ln w="1270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3" name="Text 51"/>
          <p:cNvSpPr/>
          <p:nvPr/>
        </p:nvSpPr>
        <p:spPr>
          <a:xfrm>
            <a:off x="6181344" y="3694176"/>
            <a:ext cx="2487168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separated by role</a:t>
            </a:r>
            <a:r>
              <a:rPr lang="tr-TR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Driver (casual), Station Operator (operational), Administrator (technical/system).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5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UI DESIGN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84048" y="420624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Interaction Styles &amp; Information Presentation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8375904" cy="22860"/>
          </a:xfrm>
          <a:prstGeom prst="rect">
            <a:avLst/>
          </a:prstGeom>
          <a:solidFill>
            <a:srgbClr val="DEC878"/>
          </a:solidFill>
          <a:ln w="1270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384048" y="1097280"/>
            <a:ext cx="8375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 err="1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Voltline</a:t>
            </a:r>
            <a:r>
              <a:rPr lang="en-US" sz="950" i="1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uses interaction styles appropriate for a web-based operational system: form fill-in, menu selection, limited direct manipulation, and an in-app natural-language assistant</a:t>
            </a:r>
            <a:r>
              <a:rPr lang="tr-TR" sz="950" i="1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1463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STYLES USED</a:t>
            </a:r>
            <a:endParaRPr lang="en-US" sz="7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719072"/>
          <a:ext cx="4736592" cy="260604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 Concept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Voltline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fill-in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 registration, wallet top-up, station configuration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 selection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switch, connector selector, charger selector, status dropdowns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manipulation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 marker / station card selection, SoC sliders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 language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suitable for casual EV drivers and operational staff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language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 in-app assistant parses free-text and routes the user to the relevant page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84048" y="4425696"/>
            <a:ext cx="4736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web-based systems use form-based interfaces; Voltline follows this with forms, menus, sliders and buttons.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285232" y="1463040"/>
            <a:ext cx="0" cy="3383280"/>
          </a:xfrm>
          <a:prstGeom prst="line">
            <a:avLst/>
          </a:prstGeom>
          <a:noFill/>
          <a:ln w="635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/>
          <p:nvPr/>
        </p:nvSpPr>
        <p:spPr>
          <a:xfrm>
            <a:off x="5413248" y="1463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PRESENTATION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5413248" y="1755648"/>
            <a:ext cx="1664208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50800" dist="25400" dir="8100000" algn="bl" rotWithShape="0">
              <a:srgbClr val="B8A898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Shape 9"/>
          <p:cNvSpPr/>
          <p:nvPr/>
        </p:nvSpPr>
        <p:spPr>
          <a:xfrm>
            <a:off x="5413248" y="1755648"/>
            <a:ext cx="1664208" cy="4572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0"/>
          <p:cNvSpPr/>
          <p:nvPr/>
        </p:nvSpPr>
        <p:spPr>
          <a:xfrm>
            <a:off x="5522976" y="188366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Static information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522976" y="2212848"/>
            <a:ext cx="1444752" cy="22860"/>
          </a:xfrm>
          <a:prstGeom prst="rect">
            <a:avLst/>
          </a:prstGeom>
          <a:solidFill>
            <a:srgbClr val="DED8CE"/>
          </a:solidFill>
          <a:ln w="1270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2"/>
          <p:cNvSpPr/>
          <p:nvPr/>
        </p:nvSpPr>
        <p:spPr>
          <a:xfrm>
            <a:off x="5522976" y="2286000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name, charger type, connector type, receipt numbers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7168896" y="1755648"/>
            <a:ext cx="1664208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50800" dist="25400" dir="8100000" algn="bl" rotWithShape="0">
              <a:srgbClr val="B8A898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4"/>
          <p:cNvSpPr/>
          <p:nvPr/>
        </p:nvSpPr>
        <p:spPr>
          <a:xfrm>
            <a:off x="7168896" y="1755648"/>
            <a:ext cx="1664208" cy="45720"/>
          </a:xfrm>
          <a:prstGeom prst="rect">
            <a:avLst/>
          </a:prstGeom>
          <a:solidFill>
            <a:srgbClr val="2A5A8A"/>
          </a:solidFill>
          <a:ln w="12700">
            <a:solidFill>
              <a:srgbClr val="2A5A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5"/>
          <p:cNvSpPr/>
          <p:nvPr/>
        </p:nvSpPr>
        <p:spPr>
          <a:xfrm>
            <a:off x="7278624" y="188366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 information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278624" y="2212848"/>
            <a:ext cx="1444752" cy="22860"/>
          </a:xfrm>
          <a:prstGeom prst="rect">
            <a:avLst/>
          </a:prstGeom>
          <a:solidFill>
            <a:srgbClr val="DED8CE"/>
          </a:solidFill>
          <a:ln w="1270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7"/>
          <p:cNvSpPr/>
          <p:nvPr/>
        </p:nvSpPr>
        <p:spPr>
          <a:xfrm>
            <a:off x="7278624" y="2286000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status, live charging cost, wallet balance, notifications</a:t>
            </a:r>
            <a:endParaRPr lang="en-US" sz="780" dirty="0"/>
          </a:p>
        </p:txBody>
      </p:sp>
      <p:sp>
        <p:nvSpPr>
          <p:cNvPr id="21" name="Shape 18"/>
          <p:cNvSpPr/>
          <p:nvPr/>
        </p:nvSpPr>
        <p:spPr>
          <a:xfrm>
            <a:off x="5413248" y="3090672"/>
            <a:ext cx="1664208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50800" dist="25400" dir="8100000" algn="bl" rotWithShape="0">
              <a:srgbClr val="B8A898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Shape 19"/>
          <p:cNvSpPr/>
          <p:nvPr/>
        </p:nvSpPr>
        <p:spPr>
          <a:xfrm>
            <a:off x="5413248" y="3090672"/>
            <a:ext cx="1664208" cy="45720"/>
          </a:xfrm>
          <a:prstGeom prst="rect">
            <a:avLst/>
          </a:prstGeom>
          <a:solidFill>
            <a:srgbClr val="4A7A5A"/>
          </a:solidFill>
          <a:ln w="12700">
            <a:solidFill>
              <a:srgbClr val="4A7A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0"/>
          <p:cNvSpPr/>
          <p:nvPr/>
        </p:nvSpPr>
        <p:spPr>
          <a:xfrm>
            <a:off x="5522976" y="321868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presentation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522976" y="3547872"/>
            <a:ext cx="1444752" cy="22860"/>
          </a:xfrm>
          <a:prstGeom prst="rect">
            <a:avLst/>
          </a:prstGeom>
          <a:solidFill>
            <a:srgbClr val="DED8CE"/>
          </a:solidFill>
          <a:ln w="1270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2"/>
          <p:cNvSpPr/>
          <p:nvPr/>
        </p:nvSpPr>
        <p:spPr>
          <a:xfrm>
            <a:off x="5522976" y="3621024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values such as 45 kWh, 180 TL, 99.5% availability</a:t>
            </a:r>
            <a:endParaRPr lang="en-US" sz="780" dirty="0"/>
          </a:p>
        </p:txBody>
      </p:sp>
      <p:sp>
        <p:nvSpPr>
          <p:cNvPr id="26" name="Shape 23"/>
          <p:cNvSpPr/>
          <p:nvPr/>
        </p:nvSpPr>
        <p:spPr>
          <a:xfrm>
            <a:off x="7168896" y="3090672"/>
            <a:ext cx="1664208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50800" dist="25400" dir="8100000" algn="bl" rotWithShape="0">
              <a:srgbClr val="B8A898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7" name="Shape 24"/>
          <p:cNvSpPr/>
          <p:nvPr/>
        </p:nvSpPr>
        <p:spPr>
          <a:xfrm>
            <a:off x="7168896" y="3090672"/>
            <a:ext cx="1664208" cy="45720"/>
          </a:xfrm>
          <a:prstGeom prst="rect">
            <a:avLst/>
          </a:prstGeom>
          <a:solidFill>
            <a:srgbClr val="5A3A7A"/>
          </a:solidFill>
          <a:ln w="12700">
            <a:solidFill>
              <a:srgbClr val="5A3A7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5"/>
          <p:cNvSpPr/>
          <p:nvPr/>
        </p:nvSpPr>
        <p:spPr>
          <a:xfrm>
            <a:off x="7278624" y="321868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Analogue / at-a-glance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7278624" y="3547872"/>
            <a:ext cx="1444752" cy="22860"/>
          </a:xfrm>
          <a:prstGeom prst="rect">
            <a:avLst/>
          </a:prstGeom>
          <a:solidFill>
            <a:srgbClr val="DED8CE"/>
          </a:solidFill>
          <a:ln w="1270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7"/>
          <p:cNvSpPr/>
          <p:nvPr/>
        </p:nvSpPr>
        <p:spPr>
          <a:xfrm>
            <a:off x="7278624" y="3621024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sliders, status pills, color-coded station availability</a:t>
            </a:r>
            <a:endParaRPr lang="en-US" sz="78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5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UI DESIGN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84048" y="420624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Vehicle Registration Screen — UC-1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8375904" cy="22860"/>
          </a:xfrm>
          <a:prstGeom prst="rect">
            <a:avLst/>
          </a:prstGeom>
          <a:solidFill>
            <a:srgbClr val="DEC878"/>
          </a:solidFill>
          <a:ln w="1270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5652399" y="1316736"/>
            <a:ext cx="274320" cy="0"/>
          </a:xfrm>
          <a:prstGeom prst="line">
            <a:avLst/>
          </a:prstGeom>
          <a:noFill/>
          <a:ln w="889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5926719" y="1188720"/>
            <a:ext cx="3072384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6054735" y="124358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Multi-vehicle support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54735" y="1463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account, multiple registered vehicles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212719" y="1298448"/>
            <a:ext cx="713232" cy="237744"/>
          </a:xfrm>
          <a:prstGeom prst="rect">
            <a:avLst/>
          </a:prstGeom>
          <a:solidFill>
            <a:srgbClr val="F5E9CB"/>
          </a:solidFill>
          <a:ln w="12700">
            <a:solidFill>
              <a:srgbClr val="F5E9C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8212719" y="1298448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EDR-01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652399" y="1975104"/>
            <a:ext cx="274320" cy="0"/>
          </a:xfrm>
          <a:prstGeom prst="line">
            <a:avLst/>
          </a:prstGeom>
          <a:noFill/>
          <a:ln w="889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5926719" y="1847088"/>
            <a:ext cx="3072384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6054735" y="190195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Connector enum enforced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054735" y="212140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 / CCS / CHAdeMO only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212719" y="1956816"/>
            <a:ext cx="713232" cy="237744"/>
          </a:xfrm>
          <a:prstGeom prst="rect">
            <a:avLst/>
          </a:prstGeom>
          <a:solidFill>
            <a:srgbClr val="F5E9CB"/>
          </a:solidFill>
          <a:ln w="12700">
            <a:solidFill>
              <a:srgbClr val="F5E9C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8212719" y="1956816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EDR-02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652399" y="2633472"/>
            <a:ext cx="274320" cy="0"/>
          </a:xfrm>
          <a:prstGeom prst="line">
            <a:avLst/>
          </a:prstGeom>
          <a:noFill/>
          <a:ln w="889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Shape 26"/>
          <p:cNvSpPr/>
          <p:nvPr/>
        </p:nvSpPr>
        <p:spPr>
          <a:xfrm>
            <a:off x="5926719" y="2505456"/>
            <a:ext cx="3072384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6054735" y="25603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Battery capacity validation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54735" y="277977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check on save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212719" y="2615184"/>
            <a:ext cx="713232" cy="237744"/>
          </a:xfrm>
          <a:prstGeom prst="rect">
            <a:avLst/>
          </a:prstGeom>
          <a:solidFill>
            <a:srgbClr val="F5E9CB"/>
          </a:solidFill>
          <a:ln w="12700">
            <a:solidFill>
              <a:srgbClr val="F5E9C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8212719" y="2615184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UIR-03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652399" y="3291840"/>
            <a:ext cx="274320" cy="0"/>
          </a:xfrm>
          <a:prstGeom prst="line">
            <a:avLst/>
          </a:prstGeom>
          <a:noFill/>
          <a:ln w="889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Shape 32"/>
          <p:cNvSpPr/>
          <p:nvPr/>
        </p:nvSpPr>
        <p:spPr>
          <a:xfrm>
            <a:off x="5926719" y="3163824"/>
            <a:ext cx="3072384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6054735" y="321868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Same-page inline errors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054735" y="343814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errors surface without page reload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212719" y="3273552"/>
            <a:ext cx="713232" cy="237744"/>
          </a:xfrm>
          <a:prstGeom prst="rect">
            <a:avLst/>
          </a:prstGeom>
          <a:solidFill>
            <a:srgbClr val="F5E9CB"/>
          </a:solidFill>
          <a:ln w="12700">
            <a:solidFill>
              <a:srgbClr val="F5E9C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8212719" y="3273552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UIR-02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652399" y="3950208"/>
            <a:ext cx="274320" cy="0"/>
          </a:xfrm>
          <a:prstGeom prst="line">
            <a:avLst/>
          </a:prstGeom>
          <a:noFill/>
          <a:ln w="889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Shape 38"/>
          <p:cNvSpPr/>
          <p:nvPr/>
        </p:nvSpPr>
        <p:spPr>
          <a:xfrm>
            <a:off x="5926719" y="3822192"/>
            <a:ext cx="3072384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Text 39"/>
          <p:cNvSpPr/>
          <p:nvPr/>
        </p:nvSpPr>
        <p:spPr>
          <a:xfrm>
            <a:off x="6054735" y="38770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log on save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054735" y="409651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registration action recorded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8212719" y="3931920"/>
            <a:ext cx="713232" cy="237744"/>
          </a:xfrm>
          <a:prstGeom prst="rect">
            <a:avLst/>
          </a:prstGeom>
          <a:solidFill>
            <a:srgbClr val="F5E9CB"/>
          </a:solidFill>
          <a:ln w="12700">
            <a:solidFill>
              <a:srgbClr val="F5E9C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Text 42"/>
          <p:cNvSpPr/>
          <p:nvPr/>
        </p:nvSpPr>
        <p:spPr>
          <a:xfrm>
            <a:off x="8212719" y="3931920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SDR-03</a:t>
            </a:r>
            <a:endParaRPr lang="en-US" sz="750" dirty="0"/>
          </a:p>
        </p:txBody>
      </p:sp>
      <p:pic>
        <p:nvPicPr>
          <p:cNvPr id="46" name="Resim 45">
            <a:extLst>
              <a:ext uri="{FF2B5EF4-FFF2-40B4-BE49-F238E27FC236}">
                <a16:creationId xmlns:a16="http://schemas.microsoft.com/office/drawing/2014/main" id="{1CBF3F17-4E9F-8DCA-47A4-DA483F63D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147" y="1557306"/>
            <a:ext cx="5445252" cy="2562066"/>
          </a:xfrm>
          <a:prstGeom prst="rect">
            <a:avLst/>
          </a:prstGeom>
        </p:spPr>
      </p:pic>
      <p:sp>
        <p:nvSpPr>
          <p:cNvPr id="5" name="Shape 27">
            <a:extLst>
              <a:ext uri="{FF2B5EF4-FFF2-40B4-BE49-F238E27FC236}">
                <a16:creationId xmlns:a16="http://schemas.microsoft.com/office/drawing/2014/main" id="{190673A1-FE97-2239-9DA7-615ED9D0F491}"/>
              </a:ext>
            </a:extLst>
          </p:cNvPr>
          <p:cNvSpPr/>
          <p:nvPr/>
        </p:nvSpPr>
        <p:spPr>
          <a:xfrm>
            <a:off x="384047" y="4501674"/>
            <a:ext cx="3653381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r>
              <a:rPr lang="tr-TR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Form: </a:t>
            </a:r>
            <a:r>
              <a:rPr lang="tr-TR" sz="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fill</a:t>
            </a:r>
            <a:r>
              <a:rPr lang="tr-TR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-in + </a:t>
            </a:r>
            <a:r>
              <a:rPr lang="tr-TR" sz="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menu</a:t>
            </a:r>
            <a:r>
              <a:rPr lang="tr-TR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sz="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selection</a:t>
            </a:r>
            <a:endParaRPr lang="tr-TR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hape 28">
            <a:extLst>
              <a:ext uri="{FF2B5EF4-FFF2-40B4-BE49-F238E27FC236}">
                <a16:creationId xmlns:a16="http://schemas.microsoft.com/office/drawing/2014/main" id="{D36696AA-BA76-D878-6572-2DDCDDF66451}"/>
              </a:ext>
            </a:extLst>
          </p:cNvPr>
          <p:cNvSpPr/>
          <p:nvPr/>
        </p:nvSpPr>
        <p:spPr>
          <a:xfrm>
            <a:off x="384048" y="4501674"/>
            <a:ext cx="45720" cy="256032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5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UI DESIGN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84048" y="420624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Charger &amp; Reservation — UC-2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8375904" cy="22860"/>
          </a:xfrm>
          <a:prstGeom prst="rect">
            <a:avLst/>
          </a:prstGeom>
          <a:solidFill>
            <a:srgbClr val="DEC878"/>
          </a:solidFill>
          <a:ln w="1270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4709160" y="4427317"/>
            <a:ext cx="4096512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4709160" y="4427317"/>
            <a:ext cx="45720" cy="256032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4818888" y="4445605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Color-coded markers (green/amber/red)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7955280" y="4445605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MNS-03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709160" y="4427317"/>
            <a:ext cx="4096512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4709160" y="4427317"/>
            <a:ext cx="45720" cy="256032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4818888" y="4445605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Distance from current location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7955280" y="4445605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MNS-04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709160" y="4722876"/>
            <a:ext cx="4096512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Shape 32"/>
          <p:cNvSpPr/>
          <p:nvPr/>
        </p:nvSpPr>
        <p:spPr>
          <a:xfrm>
            <a:off x="4709160" y="4722876"/>
            <a:ext cx="45720" cy="256032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4818888" y="474116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Connector compatibility badge before slot selection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7955280" y="474116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EDR-07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709160" y="4722876"/>
            <a:ext cx="4096512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Shape 36"/>
          <p:cNvSpPr/>
          <p:nvPr/>
        </p:nvSpPr>
        <p:spPr>
          <a:xfrm>
            <a:off x="4709160" y="4722876"/>
            <a:ext cx="45720" cy="256032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4818888" y="474116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Estimated cost + wallet check before confirm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7955280" y="474116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EDR-15, PWS-07</a:t>
            </a:r>
            <a:endParaRPr lang="en-US" sz="75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647801B0-30BF-1243-FA8E-8F90C251E6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009" y="1097280"/>
            <a:ext cx="5633617" cy="3288889"/>
          </a:xfrm>
          <a:prstGeom prst="rect">
            <a:avLst/>
          </a:prstGeom>
        </p:spPr>
      </p:pic>
      <p:sp>
        <p:nvSpPr>
          <p:cNvPr id="5" name="Shape 27">
            <a:extLst>
              <a:ext uri="{FF2B5EF4-FFF2-40B4-BE49-F238E27FC236}">
                <a16:creationId xmlns:a16="http://schemas.microsoft.com/office/drawing/2014/main" id="{B1B36270-61A0-19E3-BAD0-3318BEF6FF67}"/>
              </a:ext>
            </a:extLst>
          </p:cNvPr>
          <p:cNvSpPr/>
          <p:nvPr/>
        </p:nvSpPr>
        <p:spPr>
          <a:xfrm>
            <a:off x="475488" y="4713732"/>
            <a:ext cx="4096512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r>
              <a:rPr lang="tr-TR" sz="8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800" dirty="0"/>
              <a:t>Direct </a:t>
            </a:r>
            <a:r>
              <a:rPr lang="tr-TR" sz="800" dirty="0" err="1"/>
              <a:t>manipulation</a:t>
            </a:r>
            <a:r>
              <a:rPr lang="tr-TR" sz="800" dirty="0"/>
              <a:t> + </a:t>
            </a:r>
            <a:r>
              <a:rPr lang="tr-TR" sz="800" dirty="0" err="1"/>
              <a:t>colour</a:t>
            </a:r>
            <a:r>
              <a:rPr lang="tr-TR" sz="800" dirty="0"/>
              <a:t> </a:t>
            </a:r>
            <a:r>
              <a:rPr lang="tr-TR" sz="800" dirty="0" err="1"/>
              <a:t>display</a:t>
            </a:r>
            <a:r>
              <a:rPr lang="tr-TR" sz="800" dirty="0"/>
              <a:t> + </a:t>
            </a:r>
            <a:r>
              <a:rPr lang="tr-TR" sz="800" dirty="0" err="1"/>
              <a:t>information</a:t>
            </a:r>
            <a:r>
              <a:rPr lang="tr-TR" sz="800" dirty="0"/>
              <a:t> </a:t>
            </a:r>
            <a:r>
              <a:rPr lang="tr-TR" sz="800" dirty="0" err="1"/>
              <a:t>presentation</a:t>
            </a:r>
            <a:endParaRPr lang="tr-TR" sz="800" dirty="0"/>
          </a:p>
        </p:txBody>
      </p:sp>
      <p:sp>
        <p:nvSpPr>
          <p:cNvPr id="6" name="Shape 28">
            <a:extLst>
              <a:ext uri="{FF2B5EF4-FFF2-40B4-BE49-F238E27FC236}">
                <a16:creationId xmlns:a16="http://schemas.microsoft.com/office/drawing/2014/main" id="{4417ABD1-5AA8-7B8A-092B-9113389EC768}"/>
              </a:ext>
            </a:extLst>
          </p:cNvPr>
          <p:cNvSpPr/>
          <p:nvPr/>
        </p:nvSpPr>
        <p:spPr>
          <a:xfrm>
            <a:off x="475488" y="4720277"/>
            <a:ext cx="45720" cy="256032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5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UI DESIGN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84048" y="420624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Charging Session Screen — UC-3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8375904" cy="22860"/>
          </a:xfrm>
          <a:prstGeom prst="rect">
            <a:avLst/>
          </a:prstGeom>
          <a:solidFill>
            <a:srgbClr val="DEC878"/>
          </a:solidFill>
          <a:ln w="1270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5687568" y="2353445"/>
            <a:ext cx="3072384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5815584" y="2408309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SoC + Target SoC sliders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15584" y="2627765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range — slider is the right control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973568" y="2463173"/>
            <a:ext cx="713232" cy="237744"/>
          </a:xfrm>
          <a:prstGeom prst="rect">
            <a:avLst/>
          </a:prstGeom>
          <a:solidFill>
            <a:srgbClr val="F5E9CB"/>
          </a:solidFill>
          <a:ln w="12700">
            <a:solidFill>
              <a:srgbClr val="F5E9C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7973568" y="2463173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EDR-17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141910" y="3193136"/>
            <a:ext cx="673673" cy="0"/>
          </a:xfrm>
          <a:prstGeom prst="line">
            <a:avLst/>
          </a:prstGeom>
          <a:noFill/>
          <a:ln w="889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22" name="Shape 20"/>
          <p:cNvSpPr/>
          <p:nvPr/>
        </p:nvSpPr>
        <p:spPr>
          <a:xfrm>
            <a:off x="5687568" y="3011813"/>
            <a:ext cx="3072384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5815584" y="3066677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energy/cost estimate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815584" y="3286133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kWh and running cost during session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973568" y="3121541"/>
            <a:ext cx="713232" cy="237744"/>
          </a:xfrm>
          <a:prstGeom prst="rect">
            <a:avLst/>
          </a:prstGeom>
          <a:solidFill>
            <a:srgbClr val="F5E9CB"/>
          </a:solidFill>
          <a:ln w="12700">
            <a:solidFill>
              <a:srgbClr val="F5E9C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7973568" y="3121541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EDR-09</a:t>
            </a:r>
            <a:endParaRPr lang="en-US" sz="750" dirty="0"/>
          </a:p>
        </p:txBody>
      </p:sp>
      <p:sp>
        <p:nvSpPr>
          <p:cNvPr id="51" name="Shape 19">
            <a:extLst>
              <a:ext uri="{FF2B5EF4-FFF2-40B4-BE49-F238E27FC236}">
                <a16:creationId xmlns:a16="http://schemas.microsoft.com/office/drawing/2014/main" id="{A4B52E2D-E56D-9137-1BE7-73A8766B394D}"/>
              </a:ext>
            </a:extLst>
          </p:cNvPr>
          <p:cNvSpPr/>
          <p:nvPr/>
        </p:nvSpPr>
        <p:spPr>
          <a:xfrm>
            <a:off x="5259092" y="2627765"/>
            <a:ext cx="428476" cy="0"/>
          </a:xfrm>
          <a:prstGeom prst="line">
            <a:avLst/>
          </a:prstGeom>
          <a:noFill/>
          <a:ln w="889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F3712FDC-07B3-DDBC-2A8E-C589CACCE0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244" y="1478425"/>
            <a:ext cx="5100495" cy="2499847"/>
          </a:xfrm>
          <a:prstGeom prst="rect">
            <a:avLst/>
          </a:prstGeom>
        </p:spPr>
      </p:pic>
      <p:sp>
        <p:nvSpPr>
          <p:cNvPr id="5" name="Shape 27">
            <a:extLst>
              <a:ext uri="{FF2B5EF4-FFF2-40B4-BE49-F238E27FC236}">
                <a16:creationId xmlns:a16="http://schemas.microsoft.com/office/drawing/2014/main" id="{56844549-FFAD-F7B0-4610-8C9D6B4ADF39}"/>
              </a:ext>
            </a:extLst>
          </p:cNvPr>
          <p:cNvSpPr/>
          <p:nvPr/>
        </p:nvSpPr>
        <p:spPr>
          <a:xfrm>
            <a:off x="475488" y="4713732"/>
            <a:ext cx="4096512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r>
              <a:rPr lang="fr-FR" sz="800" dirty="0"/>
              <a:t>Dynamic information + analogue/digital </a:t>
            </a:r>
            <a:r>
              <a:rPr lang="fr-FR" sz="800" dirty="0" err="1"/>
              <a:t>presentation</a:t>
            </a:r>
            <a:endParaRPr lang="tr-TR" sz="800" dirty="0"/>
          </a:p>
        </p:txBody>
      </p:sp>
      <p:sp>
        <p:nvSpPr>
          <p:cNvPr id="6" name="Shape 28">
            <a:extLst>
              <a:ext uri="{FF2B5EF4-FFF2-40B4-BE49-F238E27FC236}">
                <a16:creationId xmlns:a16="http://schemas.microsoft.com/office/drawing/2014/main" id="{BDF6F030-CDD6-2F74-C88E-5A48D6573809}"/>
              </a:ext>
            </a:extLst>
          </p:cNvPr>
          <p:cNvSpPr/>
          <p:nvPr/>
        </p:nvSpPr>
        <p:spPr>
          <a:xfrm>
            <a:off x="475488" y="4720277"/>
            <a:ext cx="45720" cy="256032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477721-5754-C6B7-96BA-9DB3FE739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603037F-075D-5B18-FD6A-D834E5C87423}"/>
              </a:ext>
            </a:extLst>
          </p:cNvPr>
          <p:cNvSpPr/>
          <p:nvPr/>
        </p:nvSpPr>
        <p:spPr>
          <a:xfrm>
            <a:off x="384048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5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UI DESIGN</a:t>
            </a:r>
            <a:endParaRPr lang="en-US" sz="7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D392F82-6F60-F103-5DE0-972CE91A0461}"/>
              </a:ext>
            </a:extLst>
          </p:cNvPr>
          <p:cNvSpPr/>
          <p:nvPr/>
        </p:nvSpPr>
        <p:spPr>
          <a:xfrm>
            <a:off x="384048" y="420624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Charging Session Screen — UC-3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3902868-0F5A-1D83-31A1-2E2AB6EEC29A}"/>
              </a:ext>
            </a:extLst>
          </p:cNvPr>
          <p:cNvSpPr/>
          <p:nvPr/>
        </p:nvSpPr>
        <p:spPr>
          <a:xfrm>
            <a:off x="384048" y="1024128"/>
            <a:ext cx="8375904" cy="22860"/>
          </a:xfrm>
          <a:prstGeom prst="rect">
            <a:avLst/>
          </a:prstGeom>
          <a:solidFill>
            <a:srgbClr val="DEC878"/>
          </a:solidFill>
          <a:ln w="1270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A9771165-5E7F-F3B0-F7FA-75E207BF7524}"/>
              </a:ext>
            </a:extLst>
          </p:cNvPr>
          <p:cNvSpPr/>
          <p:nvPr/>
        </p:nvSpPr>
        <p:spPr>
          <a:xfrm>
            <a:off x="4079264" y="2316726"/>
            <a:ext cx="577693" cy="0"/>
          </a:xfrm>
          <a:prstGeom prst="line">
            <a:avLst/>
          </a:prstGeom>
          <a:noFill/>
          <a:ln w="889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0B9134EE-18CA-51F8-FC65-D9B52436B79D}"/>
              </a:ext>
            </a:extLst>
          </p:cNvPr>
          <p:cNvSpPr/>
          <p:nvPr/>
        </p:nvSpPr>
        <p:spPr>
          <a:xfrm>
            <a:off x="1006880" y="2060694"/>
            <a:ext cx="3072384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E3234AE3-8563-2B98-7910-72DD8D412257}"/>
              </a:ext>
            </a:extLst>
          </p:cNvPr>
          <p:cNvSpPr/>
          <p:nvPr/>
        </p:nvSpPr>
        <p:spPr>
          <a:xfrm>
            <a:off x="1134896" y="211555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Auto-stop at target SoC</a:t>
            </a:r>
            <a:endParaRPr lang="en-US" sz="9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4A1F9B59-67AE-5C6C-01F5-5270DA687D23}"/>
              </a:ext>
            </a:extLst>
          </p:cNvPr>
          <p:cNvSpPr/>
          <p:nvPr/>
        </p:nvSpPr>
        <p:spPr>
          <a:xfrm>
            <a:off x="1134896" y="233501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completes without manual action</a:t>
            </a:r>
            <a:endParaRPr lang="en-US" sz="8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D7AC17AB-B5B4-4AA1-C84D-98C01C6A639D}"/>
              </a:ext>
            </a:extLst>
          </p:cNvPr>
          <p:cNvSpPr/>
          <p:nvPr/>
        </p:nvSpPr>
        <p:spPr>
          <a:xfrm>
            <a:off x="3292880" y="2170422"/>
            <a:ext cx="713232" cy="237744"/>
          </a:xfrm>
          <a:prstGeom prst="rect">
            <a:avLst/>
          </a:prstGeom>
          <a:solidFill>
            <a:srgbClr val="F5E9CB"/>
          </a:solidFill>
          <a:ln w="12700">
            <a:solidFill>
              <a:srgbClr val="F5E9C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62D34F54-2AAE-BB99-601E-CF9F5C762646}"/>
              </a:ext>
            </a:extLst>
          </p:cNvPr>
          <p:cNvSpPr/>
          <p:nvPr/>
        </p:nvSpPr>
        <p:spPr>
          <a:xfrm>
            <a:off x="3292880" y="2170422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EDR-17</a:t>
            </a:r>
            <a:endParaRPr lang="en-US" sz="75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83F68E3E-56FB-17A6-3128-8A08999FE82A}"/>
              </a:ext>
            </a:extLst>
          </p:cNvPr>
          <p:cNvSpPr/>
          <p:nvPr/>
        </p:nvSpPr>
        <p:spPr>
          <a:xfrm>
            <a:off x="4006112" y="2975094"/>
            <a:ext cx="584178" cy="0"/>
          </a:xfrm>
          <a:prstGeom prst="line">
            <a:avLst/>
          </a:prstGeom>
          <a:noFill/>
          <a:ln w="889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FF07579D-657A-1AA6-9851-45182D846D75}"/>
              </a:ext>
            </a:extLst>
          </p:cNvPr>
          <p:cNvSpPr/>
          <p:nvPr/>
        </p:nvSpPr>
        <p:spPr>
          <a:xfrm>
            <a:off x="1006880" y="2719062"/>
            <a:ext cx="3072384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F5CDFD97-41E2-C89D-C957-7C4B5999BD59}"/>
              </a:ext>
            </a:extLst>
          </p:cNvPr>
          <p:cNvSpPr/>
          <p:nvPr/>
        </p:nvSpPr>
        <p:spPr>
          <a:xfrm>
            <a:off x="1134896" y="277392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Connectivity recovery simulation</a:t>
            </a:r>
            <a:endParaRPr lang="en-US" sz="9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84F299DC-566C-90CC-3E28-C911F6163AA3}"/>
              </a:ext>
            </a:extLst>
          </p:cNvPr>
          <p:cNvSpPr/>
          <p:nvPr/>
        </p:nvSpPr>
        <p:spPr>
          <a:xfrm>
            <a:off x="1134896" y="299338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state synchronized after reconnect</a:t>
            </a:r>
            <a:endParaRPr lang="en-US" sz="80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E714B12B-B2C6-6561-5C36-A841439A8820}"/>
              </a:ext>
            </a:extLst>
          </p:cNvPr>
          <p:cNvSpPr/>
          <p:nvPr/>
        </p:nvSpPr>
        <p:spPr>
          <a:xfrm>
            <a:off x="3292880" y="2828790"/>
            <a:ext cx="713232" cy="237744"/>
          </a:xfrm>
          <a:prstGeom prst="rect">
            <a:avLst/>
          </a:prstGeom>
          <a:solidFill>
            <a:srgbClr val="F5E9CB"/>
          </a:solidFill>
          <a:ln w="12700">
            <a:solidFill>
              <a:srgbClr val="F5E9C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F20D0B82-9732-D9C7-976B-AF80686A8BC0}"/>
              </a:ext>
            </a:extLst>
          </p:cNvPr>
          <p:cNvSpPr/>
          <p:nvPr/>
        </p:nvSpPr>
        <p:spPr>
          <a:xfrm>
            <a:off x="3292880" y="2828790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EDR-18</a:t>
            </a:r>
            <a:endParaRPr lang="en-US" sz="75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61A90725-F49C-6BE1-1E85-6316966F0F0B}"/>
              </a:ext>
            </a:extLst>
          </p:cNvPr>
          <p:cNvSpPr/>
          <p:nvPr/>
        </p:nvSpPr>
        <p:spPr>
          <a:xfrm>
            <a:off x="4053971" y="3638284"/>
            <a:ext cx="532297" cy="0"/>
          </a:xfrm>
          <a:prstGeom prst="line">
            <a:avLst/>
          </a:prstGeom>
          <a:noFill/>
          <a:ln w="889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2FB53312-07D0-6F98-F6A4-6981A98D140F}"/>
              </a:ext>
            </a:extLst>
          </p:cNvPr>
          <p:cNvSpPr/>
          <p:nvPr/>
        </p:nvSpPr>
        <p:spPr>
          <a:xfrm>
            <a:off x="1006880" y="3377429"/>
            <a:ext cx="3072384" cy="559023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90E965C5-BA91-6ECA-E20F-3A1FD0853F62}"/>
              </a:ext>
            </a:extLst>
          </p:cNvPr>
          <p:cNvSpPr/>
          <p:nvPr/>
        </p:nvSpPr>
        <p:spPr>
          <a:xfrm>
            <a:off x="1134896" y="343229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Wallet depletion interruption</a:t>
            </a:r>
            <a:endParaRPr lang="en-US" sz="9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25D8A876-F2EE-C743-0794-D6D925E93A5A}"/>
              </a:ext>
            </a:extLst>
          </p:cNvPr>
          <p:cNvSpPr/>
          <p:nvPr/>
        </p:nvSpPr>
        <p:spPr>
          <a:xfrm>
            <a:off x="1134896" y="365175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interrupted + notification + partial receipt</a:t>
            </a:r>
            <a:endParaRPr lang="en-US" sz="80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FC088B75-C983-B2A2-8424-64794415B275}"/>
              </a:ext>
            </a:extLst>
          </p:cNvPr>
          <p:cNvSpPr/>
          <p:nvPr/>
        </p:nvSpPr>
        <p:spPr>
          <a:xfrm>
            <a:off x="3292880" y="3487158"/>
            <a:ext cx="713232" cy="237744"/>
          </a:xfrm>
          <a:prstGeom prst="rect">
            <a:avLst/>
          </a:prstGeom>
          <a:solidFill>
            <a:srgbClr val="F5E9CB"/>
          </a:solidFill>
          <a:ln w="12700">
            <a:solidFill>
              <a:srgbClr val="F5E9C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DD21C5B8-60A5-13D3-B00D-8E248467746F}"/>
              </a:ext>
            </a:extLst>
          </p:cNvPr>
          <p:cNvSpPr/>
          <p:nvPr/>
        </p:nvSpPr>
        <p:spPr>
          <a:xfrm>
            <a:off x="3292880" y="3487158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PWS-08</a:t>
            </a:r>
            <a:endParaRPr lang="en-US" sz="7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3B3CD4-1580-C0FB-C181-AD4798131A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4127" y="1331691"/>
            <a:ext cx="3140764" cy="3464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468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5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UI DESIGN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84048" y="420624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Wallet &amp; Financial Transparency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8375904" cy="22860"/>
          </a:xfrm>
          <a:prstGeom prst="rect">
            <a:avLst/>
          </a:prstGeom>
          <a:solidFill>
            <a:srgbClr val="DEC878"/>
          </a:solidFill>
          <a:ln w="1270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5276088" y="2757597"/>
            <a:ext cx="402336" cy="0"/>
          </a:xfrm>
          <a:prstGeom prst="line">
            <a:avLst/>
          </a:prstGeom>
          <a:noFill/>
          <a:ln w="889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5614416" y="2516886"/>
            <a:ext cx="3072384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5742432" y="257175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Balance + top-up on one screen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742432" y="279120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separate page for payment actions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900416" y="2626614"/>
            <a:ext cx="713232" cy="237744"/>
          </a:xfrm>
          <a:prstGeom prst="rect">
            <a:avLst/>
          </a:prstGeom>
          <a:solidFill>
            <a:srgbClr val="F5E9CB"/>
          </a:solidFill>
          <a:ln w="12700">
            <a:solidFill>
              <a:srgbClr val="F5E9C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7900416" y="2626614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PWS-06</a:t>
            </a:r>
            <a:endParaRPr lang="en-US" sz="75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C6003FAD-E18B-A90C-BF0F-BA3F36EC4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1770420"/>
            <a:ext cx="4882896" cy="1718321"/>
          </a:xfrm>
          <a:prstGeom prst="rect">
            <a:avLst/>
          </a:prstGeom>
        </p:spPr>
      </p:pic>
      <p:sp>
        <p:nvSpPr>
          <p:cNvPr id="5" name="Shape 27">
            <a:extLst>
              <a:ext uri="{FF2B5EF4-FFF2-40B4-BE49-F238E27FC236}">
                <a16:creationId xmlns:a16="http://schemas.microsoft.com/office/drawing/2014/main" id="{5C855CD1-64B7-A70D-7EF3-6A7EE25B3AD1}"/>
              </a:ext>
            </a:extLst>
          </p:cNvPr>
          <p:cNvSpPr/>
          <p:nvPr/>
        </p:nvSpPr>
        <p:spPr>
          <a:xfrm>
            <a:off x="521208" y="4686300"/>
            <a:ext cx="4096512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r>
              <a:rPr lang="tr-TR" sz="800" dirty="0" err="1"/>
              <a:t>Digital</a:t>
            </a:r>
            <a:r>
              <a:rPr lang="tr-TR" sz="800" dirty="0"/>
              <a:t> </a:t>
            </a:r>
            <a:r>
              <a:rPr lang="tr-TR" sz="800" dirty="0" err="1"/>
              <a:t>information</a:t>
            </a:r>
            <a:r>
              <a:rPr lang="tr-TR" sz="800" dirty="0"/>
              <a:t> </a:t>
            </a:r>
            <a:r>
              <a:rPr lang="tr-TR" sz="800" dirty="0" err="1"/>
              <a:t>presentation</a:t>
            </a:r>
            <a:endParaRPr lang="tr-TR" sz="800" dirty="0"/>
          </a:p>
        </p:txBody>
      </p:sp>
      <p:sp>
        <p:nvSpPr>
          <p:cNvPr id="6" name="Shape 28">
            <a:extLst>
              <a:ext uri="{FF2B5EF4-FFF2-40B4-BE49-F238E27FC236}">
                <a16:creationId xmlns:a16="http://schemas.microsoft.com/office/drawing/2014/main" id="{0FD64F4C-A005-8B53-94B3-AE84DE38EB5E}"/>
              </a:ext>
            </a:extLst>
          </p:cNvPr>
          <p:cNvSpPr/>
          <p:nvPr/>
        </p:nvSpPr>
        <p:spPr>
          <a:xfrm>
            <a:off x="521208" y="4692845"/>
            <a:ext cx="45720" cy="256032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527B76-1F91-B5FF-ACD9-12D804193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2EF1976-E0EE-850C-865D-9C833CFF66CB}"/>
              </a:ext>
            </a:extLst>
          </p:cNvPr>
          <p:cNvSpPr/>
          <p:nvPr/>
        </p:nvSpPr>
        <p:spPr>
          <a:xfrm>
            <a:off x="384048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5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UI DESIGN</a:t>
            </a:r>
            <a:endParaRPr lang="en-US" sz="7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556828E-3BBF-9CD1-15EC-4E218F9455F8}"/>
              </a:ext>
            </a:extLst>
          </p:cNvPr>
          <p:cNvSpPr/>
          <p:nvPr/>
        </p:nvSpPr>
        <p:spPr>
          <a:xfrm>
            <a:off x="384048" y="420624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Wallet &amp; Financial Transparency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23FE4A3-CF88-D1C7-B3F4-449DDACB1E6F}"/>
              </a:ext>
            </a:extLst>
          </p:cNvPr>
          <p:cNvSpPr/>
          <p:nvPr/>
        </p:nvSpPr>
        <p:spPr>
          <a:xfrm>
            <a:off x="384048" y="1024128"/>
            <a:ext cx="8375904" cy="22860"/>
          </a:xfrm>
          <a:prstGeom prst="rect">
            <a:avLst/>
          </a:prstGeom>
          <a:solidFill>
            <a:srgbClr val="DEC878"/>
          </a:solidFill>
          <a:ln w="1270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92211350-0501-AD78-4A9E-557A54040315}"/>
              </a:ext>
            </a:extLst>
          </p:cNvPr>
          <p:cNvSpPr/>
          <p:nvPr/>
        </p:nvSpPr>
        <p:spPr>
          <a:xfrm flipV="1">
            <a:off x="4670740" y="2203184"/>
            <a:ext cx="585392" cy="1"/>
          </a:xfrm>
          <a:prstGeom prst="line">
            <a:avLst/>
          </a:prstGeom>
          <a:noFill/>
          <a:ln w="889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28D7D6D3-23C7-BFB8-3F21-B7E8CD8A6A98}"/>
              </a:ext>
            </a:extLst>
          </p:cNvPr>
          <p:cNvSpPr/>
          <p:nvPr/>
        </p:nvSpPr>
        <p:spPr>
          <a:xfrm>
            <a:off x="5201268" y="1979773"/>
            <a:ext cx="3072384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CA415BFD-B152-5C4F-0424-DE810674A70B}"/>
              </a:ext>
            </a:extLst>
          </p:cNvPr>
          <p:cNvSpPr/>
          <p:nvPr/>
        </p:nvSpPr>
        <p:spPr>
          <a:xfrm>
            <a:off x="5329284" y="2034637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Transaction history</a:t>
            </a:r>
            <a:endParaRPr lang="en-US" sz="9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0BD688EC-9FE9-6440-DE9A-49D94AC9DE04}"/>
              </a:ext>
            </a:extLst>
          </p:cNvPr>
          <p:cNvSpPr/>
          <p:nvPr/>
        </p:nvSpPr>
        <p:spPr>
          <a:xfrm>
            <a:off x="5329284" y="2254093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Top-ups, charges, refunds with receipt numbers</a:t>
            </a:r>
            <a:endParaRPr lang="en-US" sz="8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D5EBAA5C-8B92-EA1F-EAE5-405A06FF2309}"/>
              </a:ext>
            </a:extLst>
          </p:cNvPr>
          <p:cNvSpPr/>
          <p:nvPr/>
        </p:nvSpPr>
        <p:spPr>
          <a:xfrm>
            <a:off x="7487268" y="2089501"/>
            <a:ext cx="713232" cy="237744"/>
          </a:xfrm>
          <a:prstGeom prst="rect">
            <a:avLst/>
          </a:prstGeom>
          <a:solidFill>
            <a:srgbClr val="F5E9CB"/>
          </a:solidFill>
          <a:ln w="12700">
            <a:solidFill>
              <a:srgbClr val="F5E9C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EE560BFF-5AAA-FE00-906D-B4DE54122698}"/>
              </a:ext>
            </a:extLst>
          </p:cNvPr>
          <p:cNvSpPr/>
          <p:nvPr/>
        </p:nvSpPr>
        <p:spPr>
          <a:xfrm>
            <a:off x="7487268" y="2089501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GRR-04</a:t>
            </a:r>
            <a:endParaRPr lang="en-US" sz="75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B5183AD6-9BEE-CACC-9342-4915DD4A0E48}"/>
              </a:ext>
            </a:extLst>
          </p:cNvPr>
          <p:cNvSpPr/>
          <p:nvPr/>
        </p:nvSpPr>
        <p:spPr>
          <a:xfrm flipV="1">
            <a:off x="4729106" y="2863757"/>
            <a:ext cx="468660" cy="1"/>
          </a:xfrm>
          <a:prstGeom prst="line">
            <a:avLst/>
          </a:prstGeom>
          <a:noFill/>
          <a:ln w="889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3794D073-3200-5100-A481-8117A239655F}"/>
              </a:ext>
            </a:extLst>
          </p:cNvPr>
          <p:cNvSpPr/>
          <p:nvPr/>
        </p:nvSpPr>
        <p:spPr>
          <a:xfrm>
            <a:off x="5201268" y="2638141"/>
            <a:ext cx="3072384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9AF88C92-2291-4EF4-2526-E7EE33606512}"/>
              </a:ext>
            </a:extLst>
          </p:cNvPr>
          <p:cNvSpPr/>
          <p:nvPr/>
        </p:nvSpPr>
        <p:spPr>
          <a:xfrm>
            <a:off x="5329284" y="2693005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receipt after every transaction</a:t>
            </a:r>
            <a:endParaRPr lang="en-US" sz="9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5214B1BD-0FB3-75EB-F848-C566D3090DFF}"/>
              </a:ext>
            </a:extLst>
          </p:cNvPr>
          <p:cNvSpPr/>
          <p:nvPr/>
        </p:nvSpPr>
        <p:spPr>
          <a:xfrm>
            <a:off x="5329284" y="2912461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CHG / REF receipt generated automatically</a:t>
            </a:r>
            <a:endParaRPr lang="en-US" sz="8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BB4E043A-76E3-E358-2A26-373431818207}"/>
              </a:ext>
            </a:extLst>
          </p:cNvPr>
          <p:cNvSpPr/>
          <p:nvPr/>
        </p:nvSpPr>
        <p:spPr>
          <a:xfrm>
            <a:off x="7487268" y="2747869"/>
            <a:ext cx="713232" cy="237744"/>
          </a:xfrm>
          <a:prstGeom prst="rect">
            <a:avLst/>
          </a:prstGeom>
          <a:solidFill>
            <a:srgbClr val="F5E9CB"/>
          </a:solidFill>
          <a:ln w="12700">
            <a:solidFill>
              <a:srgbClr val="F5E9C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DD73B862-6D35-9D26-E025-924991BE1F9B}"/>
              </a:ext>
            </a:extLst>
          </p:cNvPr>
          <p:cNvSpPr/>
          <p:nvPr/>
        </p:nvSpPr>
        <p:spPr>
          <a:xfrm>
            <a:off x="7487268" y="2747869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GRR-01</a:t>
            </a:r>
            <a:endParaRPr lang="en-US" sz="75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40C2D85C-696B-6A99-129B-7A947614C91B}"/>
              </a:ext>
            </a:extLst>
          </p:cNvPr>
          <p:cNvSpPr/>
          <p:nvPr/>
        </p:nvSpPr>
        <p:spPr>
          <a:xfrm>
            <a:off x="4729106" y="3525109"/>
            <a:ext cx="468660" cy="0"/>
          </a:xfrm>
          <a:prstGeom prst="line">
            <a:avLst/>
          </a:prstGeom>
          <a:noFill/>
          <a:ln w="889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7EB1F9D1-F536-702E-E836-DD86B7E54F96}"/>
              </a:ext>
            </a:extLst>
          </p:cNvPr>
          <p:cNvSpPr/>
          <p:nvPr/>
        </p:nvSpPr>
        <p:spPr>
          <a:xfrm>
            <a:off x="5201268" y="3296509"/>
            <a:ext cx="3072384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DAE73156-787A-0A63-C2DD-82EF28F149A9}"/>
              </a:ext>
            </a:extLst>
          </p:cNvPr>
          <p:cNvSpPr/>
          <p:nvPr/>
        </p:nvSpPr>
        <p:spPr>
          <a:xfrm>
            <a:off x="5329284" y="3351373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Refund results visible inline</a:t>
            </a:r>
            <a:endParaRPr lang="en-US" sz="9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F4211925-8B5B-A822-355D-813B76571233}"/>
              </a:ext>
            </a:extLst>
          </p:cNvPr>
          <p:cNvSpPr/>
          <p:nvPr/>
        </p:nvSpPr>
        <p:spPr>
          <a:xfrm>
            <a:off x="5329284" y="3570829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reservation → refund shown immediately</a:t>
            </a:r>
            <a:endParaRPr lang="en-US" sz="80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65345EA9-3B75-8526-ECB8-389FE9B4672B}"/>
              </a:ext>
            </a:extLst>
          </p:cNvPr>
          <p:cNvSpPr/>
          <p:nvPr/>
        </p:nvSpPr>
        <p:spPr>
          <a:xfrm>
            <a:off x="7487268" y="3406237"/>
            <a:ext cx="713232" cy="237744"/>
          </a:xfrm>
          <a:prstGeom prst="rect">
            <a:avLst/>
          </a:prstGeom>
          <a:solidFill>
            <a:srgbClr val="F5E9CB"/>
          </a:solidFill>
          <a:ln w="12700">
            <a:solidFill>
              <a:srgbClr val="F5E9C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E62E0850-D4DD-DCF5-A660-0CF26BEACB16}"/>
              </a:ext>
            </a:extLst>
          </p:cNvPr>
          <p:cNvSpPr/>
          <p:nvPr/>
        </p:nvSpPr>
        <p:spPr>
          <a:xfrm>
            <a:off x="7487268" y="3406237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PWS-04</a:t>
            </a:r>
            <a:endParaRPr lang="en-US" sz="75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088FC00-7DE0-AAEE-C51B-A2BCF6EDA7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9078"/>
          <a:stretch>
            <a:fillRect/>
          </a:stretch>
        </p:blipFill>
        <p:spPr>
          <a:xfrm>
            <a:off x="755261" y="1501254"/>
            <a:ext cx="2599502" cy="2926759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C6F4296A-E437-D9DA-9016-500F58F243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2908"/>
          <a:stretch>
            <a:fillRect/>
          </a:stretch>
        </p:blipFill>
        <p:spPr>
          <a:xfrm>
            <a:off x="3329672" y="1501254"/>
            <a:ext cx="1436881" cy="2926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224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132FD3-DAF2-E90C-5F17-8C03F8091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A85D2B9-1D82-97C5-9911-FB80ABC06F45}"/>
              </a:ext>
            </a:extLst>
          </p:cNvPr>
          <p:cNvSpPr/>
          <p:nvPr/>
        </p:nvSpPr>
        <p:spPr>
          <a:xfrm>
            <a:off x="384048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5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UI DESIGN</a:t>
            </a:r>
            <a:endParaRPr lang="en-US" sz="7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004519F-F275-9A03-EE9C-14D7D41C7376}"/>
              </a:ext>
            </a:extLst>
          </p:cNvPr>
          <p:cNvSpPr/>
          <p:nvPr/>
        </p:nvSpPr>
        <p:spPr>
          <a:xfrm>
            <a:off x="384048" y="420624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Wallet &amp; Financial Transparency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8A48F53-A659-0180-F2A9-6D030FC01C45}"/>
              </a:ext>
            </a:extLst>
          </p:cNvPr>
          <p:cNvSpPr/>
          <p:nvPr/>
        </p:nvSpPr>
        <p:spPr>
          <a:xfrm>
            <a:off x="384048" y="1024128"/>
            <a:ext cx="8375904" cy="22860"/>
          </a:xfrm>
          <a:prstGeom prst="rect">
            <a:avLst/>
          </a:prstGeom>
          <a:solidFill>
            <a:srgbClr val="DEC878"/>
          </a:solidFill>
          <a:ln w="1270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49534F71-D145-66A3-18DF-319EE27871E3}"/>
              </a:ext>
            </a:extLst>
          </p:cNvPr>
          <p:cNvSpPr/>
          <p:nvPr/>
        </p:nvSpPr>
        <p:spPr>
          <a:xfrm>
            <a:off x="5056632" y="2869050"/>
            <a:ext cx="274320" cy="0"/>
          </a:xfrm>
          <a:prstGeom prst="line">
            <a:avLst/>
          </a:prstGeom>
          <a:noFill/>
          <a:ln w="889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22C5F332-1D9B-EB56-6575-E3D94D162F67}"/>
              </a:ext>
            </a:extLst>
          </p:cNvPr>
          <p:cNvSpPr/>
          <p:nvPr/>
        </p:nvSpPr>
        <p:spPr>
          <a:xfrm>
            <a:off x="5330952" y="2741034"/>
            <a:ext cx="3072384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E7461D44-260A-BE26-604E-4771811B00DD}"/>
              </a:ext>
            </a:extLst>
          </p:cNvPr>
          <p:cNvSpPr/>
          <p:nvPr/>
        </p:nvSpPr>
        <p:spPr>
          <a:xfrm>
            <a:off x="5458968" y="279589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Charging history with energy + cost</a:t>
            </a:r>
            <a:endParaRPr lang="en-US" sz="9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84643FCA-5F80-4EDE-67B5-1CCAF59B070A}"/>
              </a:ext>
            </a:extLst>
          </p:cNvPr>
          <p:cNvSpPr/>
          <p:nvPr/>
        </p:nvSpPr>
        <p:spPr>
          <a:xfrm>
            <a:off x="5458968" y="301535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session record for all sessions</a:t>
            </a:r>
            <a:endParaRPr lang="en-US" sz="80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BEFB2298-DA0A-2E39-6064-65A7A7A3DDD6}"/>
              </a:ext>
            </a:extLst>
          </p:cNvPr>
          <p:cNvSpPr/>
          <p:nvPr/>
        </p:nvSpPr>
        <p:spPr>
          <a:xfrm>
            <a:off x="7616952" y="2850762"/>
            <a:ext cx="713232" cy="237744"/>
          </a:xfrm>
          <a:prstGeom prst="rect">
            <a:avLst/>
          </a:prstGeom>
          <a:solidFill>
            <a:srgbClr val="F5E9CB"/>
          </a:solidFill>
          <a:ln w="12700">
            <a:solidFill>
              <a:srgbClr val="F5E9C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01A30F8B-F251-CD21-609D-9911C32C65CC}"/>
              </a:ext>
            </a:extLst>
          </p:cNvPr>
          <p:cNvSpPr/>
          <p:nvPr/>
        </p:nvSpPr>
        <p:spPr>
          <a:xfrm>
            <a:off x="7616952" y="2850762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EDR-10</a:t>
            </a:r>
            <a:endParaRPr lang="en-US" sz="75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A3ABDDFE-2403-AD4A-13A4-D4ED0DF07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710" y="1842757"/>
            <a:ext cx="3963682" cy="2016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309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5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UI DESIGN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84048" y="420624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 Center &amp; Activity System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8375904" cy="22860"/>
          </a:xfrm>
          <a:prstGeom prst="rect">
            <a:avLst/>
          </a:prstGeom>
          <a:solidFill>
            <a:srgbClr val="DEC878"/>
          </a:solidFill>
          <a:ln w="1270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CFB04DC4-882E-0B28-3A1E-BA5C9927F5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836" y="1266001"/>
            <a:ext cx="6746327" cy="354895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CBCAE9-5B4E-8FF5-1DE2-65196AA2C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3B7EF6-FA6B-DB78-26BA-BED6D7A0107C}"/>
              </a:ext>
            </a:extLst>
          </p:cNvPr>
          <p:cNvSpPr/>
          <p:nvPr/>
        </p:nvSpPr>
        <p:spPr>
          <a:xfrm>
            <a:off x="384048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5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UI DESIGN</a:t>
            </a:r>
            <a:endParaRPr lang="en-US" sz="7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945BE7B-CBB5-B8C1-4154-532B4E6CBA5E}"/>
              </a:ext>
            </a:extLst>
          </p:cNvPr>
          <p:cNvSpPr/>
          <p:nvPr/>
        </p:nvSpPr>
        <p:spPr>
          <a:xfrm>
            <a:off x="384048" y="420624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 Center &amp; Activity System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D5F8345-A495-B933-F7E6-98421E46E6A8}"/>
              </a:ext>
            </a:extLst>
          </p:cNvPr>
          <p:cNvSpPr/>
          <p:nvPr/>
        </p:nvSpPr>
        <p:spPr>
          <a:xfrm>
            <a:off x="384048" y="1024128"/>
            <a:ext cx="8375904" cy="22860"/>
          </a:xfrm>
          <a:prstGeom prst="rect">
            <a:avLst/>
          </a:prstGeom>
          <a:solidFill>
            <a:srgbClr val="DEC878"/>
          </a:solidFill>
          <a:ln w="1270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F39D6BA5-73FA-7FB7-E2CA-CDF83928E0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167" y="1238910"/>
            <a:ext cx="6809362" cy="3549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265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9E62C4-D989-C096-862F-6128F10C5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3BD3C5E-BC71-4400-FEA5-A19B901E493E}"/>
              </a:ext>
            </a:extLst>
          </p:cNvPr>
          <p:cNvSpPr/>
          <p:nvPr/>
        </p:nvSpPr>
        <p:spPr>
          <a:xfrm>
            <a:off x="384048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5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UI DESIGN</a:t>
            </a:r>
            <a:endParaRPr lang="en-US" sz="7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EB97F38-D59B-BBA5-73D8-77428D56B0CF}"/>
              </a:ext>
            </a:extLst>
          </p:cNvPr>
          <p:cNvSpPr/>
          <p:nvPr/>
        </p:nvSpPr>
        <p:spPr>
          <a:xfrm>
            <a:off x="384048" y="420624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 Center &amp; Activity System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BD08B55-5D34-D5A2-58C5-A53DF732258F}"/>
              </a:ext>
            </a:extLst>
          </p:cNvPr>
          <p:cNvSpPr/>
          <p:nvPr/>
        </p:nvSpPr>
        <p:spPr>
          <a:xfrm>
            <a:off x="384048" y="1024128"/>
            <a:ext cx="8375904" cy="22860"/>
          </a:xfrm>
          <a:prstGeom prst="rect">
            <a:avLst/>
          </a:prstGeom>
          <a:solidFill>
            <a:srgbClr val="DEC878"/>
          </a:solidFill>
          <a:ln w="1270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89F94176-8C7A-A742-3FDE-31C52A108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1618" y="1110818"/>
            <a:ext cx="6740763" cy="392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112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6807A5-177A-51B6-164C-A3102E916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CF4B757-B8E9-B899-5661-6E060F2A856E}"/>
              </a:ext>
            </a:extLst>
          </p:cNvPr>
          <p:cNvSpPr/>
          <p:nvPr/>
        </p:nvSpPr>
        <p:spPr>
          <a:xfrm>
            <a:off x="384048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5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UI DESIGN</a:t>
            </a:r>
            <a:endParaRPr lang="en-US" sz="7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EA2384F-E77B-2F56-906E-9F3830DF0D2D}"/>
              </a:ext>
            </a:extLst>
          </p:cNvPr>
          <p:cNvSpPr/>
          <p:nvPr/>
        </p:nvSpPr>
        <p:spPr>
          <a:xfrm>
            <a:off x="384048" y="420624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 Center &amp; Activity System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F9571D8-4742-81A0-B766-6567A44D2478}"/>
              </a:ext>
            </a:extLst>
          </p:cNvPr>
          <p:cNvSpPr/>
          <p:nvPr/>
        </p:nvSpPr>
        <p:spPr>
          <a:xfrm>
            <a:off x="384048" y="1024128"/>
            <a:ext cx="8375904" cy="22860"/>
          </a:xfrm>
          <a:prstGeom prst="rect">
            <a:avLst/>
          </a:prstGeom>
          <a:solidFill>
            <a:srgbClr val="DEC878"/>
          </a:solidFill>
          <a:ln w="1270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6351230B-E183-09E8-59FA-C376535933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7683"/>
          <a:stretch>
            <a:fillRect/>
          </a:stretch>
        </p:blipFill>
        <p:spPr>
          <a:xfrm>
            <a:off x="595992" y="1120307"/>
            <a:ext cx="7952016" cy="1045391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8FE0BD74-4F72-D81B-4F94-3D0A458F85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0725"/>
          <a:stretch>
            <a:fillRect/>
          </a:stretch>
        </p:blipFill>
        <p:spPr>
          <a:xfrm>
            <a:off x="595992" y="2165698"/>
            <a:ext cx="7952016" cy="277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923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5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UI DESIGN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84048" y="420624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Help Guide &amp; Role-Based Assistance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8375904" cy="22860"/>
          </a:xfrm>
          <a:prstGeom prst="rect">
            <a:avLst/>
          </a:prstGeom>
          <a:solidFill>
            <a:srgbClr val="DEC878"/>
          </a:solidFill>
          <a:ln w="1270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384048" y="1097280"/>
            <a:ext cx="8375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onboarding and guidance system, each role has its own dedicated Help Guide page.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47472" y="1408176"/>
            <a:ext cx="274320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101600" dist="38100" dir="8100000" algn="bl" rotWithShape="0">
              <a:srgbClr val="B8A898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347472" y="1408176"/>
            <a:ext cx="2743200" cy="54864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475488" y="1517904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Driver Guide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" y="1901952"/>
            <a:ext cx="2505456" cy="2286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475488" y="2011680"/>
            <a:ext cx="64008" cy="64008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585216" y="1975104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walkthrough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5488" y="2359152"/>
            <a:ext cx="64008" cy="64008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585216" y="2322576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register a vehicle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5488" y="2706624"/>
            <a:ext cx="64008" cy="64008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585216" y="2670048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find and reserve a charger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5488" y="3054096"/>
            <a:ext cx="64008" cy="64008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585216" y="301752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cost and wallet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5488" y="3401568"/>
            <a:ext cx="64008" cy="64008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585216" y="3364992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session explained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5488" y="3749040"/>
            <a:ext cx="64008" cy="64008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585216" y="3712464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FAQs for common driver questions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0" y="1408176"/>
            <a:ext cx="274320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101600" dist="38100" dir="8100000" algn="bl" rotWithShape="0">
              <a:srgbClr val="B8A898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3200400" y="1408176"/>
            <a:ext cx="2743200" cy="54864"/>
          </a:xfrm>
          <a:prstGeom prst="rect">
            <a:avLst/>
          </a:prstGeom>
          <a:solidFill>
            <a:srgbClr val="2A5A8A"/>
          </a:solidFill>
          <a:ln w="12700">
            <a:solidFill>
              <a:srgbClr val="2A5A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3328416" y="1517904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5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Operator Guide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28416" y="1901952"/>
            <a:ext cx="2505456" cy="22860"/>
          </a:xfrm>
          <a:prstGeom prst="rect">
            <a:avLst/>
          </a:prstGeom>
          <a:solidFill>
            <a:srgbClr val="2A5A8A"/>
          </a:solidFill>
          <a:ln w="12700">
            <a:solidFill>
              <a:srgbClr val="2A5A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3328416" y="2011680"/>
            <a:ext cx="64008" cy="64008"/>
          </a:xfrm>
          <a:prstGeom prst="rect">
            <a:avLst/>
          </a:prstGeom>
          <a:solidFill>
            <a:srgbClr val="2A5A8A"/>
          </a:solidFill>
          <a:ln w="12700">
            <a:solidFill>
              <a:srgbClr val="2A5A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3438144" y="1975104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and charger management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328416" y="2359152"/>
            <a:ext cx="64008" cy="64008"/>
          </a:xfrm>
          <a:prstGeom prst="rect">
            <a:avLst/>
          </a:prstGeom>
          <a:solidFill>
            <a:srgbClr val="2A5A8A"/>
          </a:solidFill>
          <a:ln w="12700">
            <a:solidFill>
              <a:srgbClr val="2A5A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3438144" y="2322576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update charger status/pricing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328416" y="2706624"/>
            <a:ext cx="64008" cy="64008"/>
          </a:xfrm>
          <a:prstGeom prst="rect">
            <a:avLst/>
          </a:prstGeom>
          <a:solidFill>
            <a:srgbClr val="2A5A8A"/>
          </a:solidFill>
          <a:ln w="12700">
            <a:solidFill>
              <a:srgbClr val="2A5A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3438144" y="2670048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reservations and occupancy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328416" y="3054096"/>
            <a:ext cx="64008" cy="64008"/>
          </a:xfrm>
          <a:prstGeom prst="rect">
            <a:avLst/>
          </a:prstGeom>
          <a:solidFill>
            <a:srgbClr val="2A5A8A"/>
          </a:solidFill>
          <a:ln w="12700">
            <a:solidFill>
              <a:srgbClr val="2A5A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3438144" y="301752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issue reports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328416" y="3401568"/>
            <a:ext cx="64008" cy="64008"/>
          </a:xfrm>
          <a:prstGeom prst="rect">
            <a:avLst/>
          </a:prstGeom>
          <a:solidFill>
            <a:srgbClr val="2A5A8A"/>
          </a:solidFill>
          <a:ln w="12700">
            <a:solidFill>
              <a:srgbClr val="2A5A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3438144" y="3364992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Out-of-service workflow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328416" y="3749040"/>
            <a:ext cx="64008" cy="64008"/>
          </a:xfrm>
          <a:prstGeom prst="rect">
            <a:avLst/>
          </a:prstGeom>
          <a:solidFill>
            <a:srgbClr val="2A5A8A"/>
          </a:solidFill>
          <a:ln w="12700">
            <a:solidFill>
              <a:srgbClr val="2A5A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3438144" y="3712464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playbooks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053328" y="1408176"/>
            <a:ext cx="274320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101600" dist="38100" dir="8100000" algn="bl" rotWithShape="0">
              <a:srgbClr val="B8A898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9" name="Shape 37"/>
          <p:cNvSpPr/>
          <p:nvPr/>
        </p:nvSpPr>
        <p:spPr>
          <a:xfrm>
            <a:off x="6053328" y="1408176"/>
            <a:ext cx="2743200" cy="54864"/>
          </a:xfrm>
          <a:prstGeom prst="rect">
            <a:avLst/>
          </a:prstGeom>
          <a:solidFill>
            <a:srgbClr val="5A3A7A"/>
          </a:solidFill>
          <a:ln w="12700">
            <a:solidFill>
              <a:srgbClr val="5A3A7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6181344" y="1517904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3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Guide / Reference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181344" y="1901952"/>
            <a:ext cx="2505456" cy="22860"/>
          </a:xfrm>
          <a:prstGeom prst="rect">
            <a:avLst/>
          </a:prstGeom>
          <a:solidFill>
            <a:srgbClr val="5A3A7A"/>
          </a:solidFill>
          <a:ln w="12700">
            <a:solidFill>
              <a:srgbClr val="5A3A7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Shape 40"/>
          <p:cNvSpPr/>
          <p:nvPr/>
        </p:nvSpPr>
        <p:spPr>
          <a:xfrm>
            <a:off x="6181344" y="2011680"/>
            <a:ext cx="64008" cy="64008"/>
          </a:xfrm>
          <a:prstGeom prst="rect">
            <a:avLst/>
          </a:prstGeom>
          <a:solidFill>
            <a:srgbClr val="5A3A7A"/>
          </a:solidFill>
          <a:ln w="12700">
            <a:solidFill>
              <a:srgbClr val="5A3A7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6291072" y="1975104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and operator account management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181344" y="2359152"/>
            <a:ext cx="64008" cy="64008"/>
          </a:xfrm>
          <a:prstGeom prst="rect">
            <a:avLst/>
          </a:prstGeom>
          <a:solidFill>
            <a:srgbClr val="5A3A7A"/>
          </a:solidFill>
          <a:ln w="12700">
            <a:solidFill>
              <a:srgbClr val="5A3A7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Text 43"/>
          <p:cNvSpPr/>
          <p:nvPr/>
        </p:nvSpPr>
        <p:spPr>
          <a:xfrm>
            <a:off x="6291072" y="2322576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add/remove workflow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181344" y="2706624"/>
            <a:ext cx="64008" cy="64008"/>
          </a:xfrm>
          <a:prstGeom prst="rect">
            <a:avLst/>
          </a:prstGeom>
          <a:solidFill>
            <a:srgbClr val="5A3A7A"/>
          </a:solidFill>
          <a:ln w="12700">
            <a:solidFill>
              <a:srgbClr val="5A3A7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7" name="Text 45"/>
          <p:cNvSpPr/>
          <p:nvPr/>
        </p:nvSpPr>
        <p:spPr>
          <a:xfrm>
            <a:off x="6291072" y="2670048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and analytics reference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181344" y="3054096"/>
            <a:ext cx="64008" cy="64008"/>
          </a:xfrm>
          <a:prstGeom prst="rect">
            <a:avLst/>
          </a:prstGeom>
          <a:solidFill>
            <a:srgbClr val="5A3A7A"/>
          </a:solidFill>
          <a:ln w="12700">
            <a:solidFill>
              <a:srgbClr val="5A3A7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9" name="Text 47"/>
          <p:cNvSpPr/>
          <p:nvPr/>
        </p:nvSpPr>
        <p:spPr>
          <a:xfrm>
            <a:off x="6291072" y="301752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alert configuration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181344" y="3401568"/>
            <a:ext cx="64008" cy="64008"/>
          </a:xfrm>
          <a:prstGeom prst="rect">
            <a:avLst/>
          </a:prstGeom>
          <a:solidFill>
            <a:srgbClr val="5A3A7A"/>
          </a:solidFill>
          <a:ln w="12700">
            <a:solidFill>
              <a:srgbClr val="5A3A7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1" name="Text 49"/>
          <p:cNvSpPr/>
          <p:nvPr/>
        </p:nvSpPr>
        <p:spPr>
          <a:xfrm>
            <a:off x="6291072" y="3364992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interpretation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181344" y="3749040"/>
            <a:ext cx="64008" cy="64008"/>
          </a:xfrm>
          <a:prstGeom prst="rect">
            <a:avLst/>
          </a:prstGeom>
          <a:solidFill>
            <a:srgbClr val="5A3A7A"/>
          </a:solidFill>
          <a:ln w="12700">
            <a:solidFill>
              <a:srgbClr val="5A3A7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3" name="Text 51"/>
          <p:cNvSpPr/>
          <p:nvPr/>
        </p:nvSpPr>
        <p:spPr>
          <a:xfrm>
            <a:off x="6291072" y="3712464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Technical/reference documentation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347472" y="4281338"/>
            <a:ext cx="83759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accordion system · role-specific guidance · operational playbooks · in-app assistant · improves onboarding and aligns with UI design criteria.</a:t>
            </a:r>
            <a:endParaRPr lang="en-US" sz="750" dirty="0"/>
          </a:p>
        </p:txBody>
      </p:sp>
      <p:sp>
        <p:nvSpPr>
          <p:cNvPr id="54" name="Shape 27">
            <a:extLst>
              <a:ext uri="{FF2B5EF4-FFF2-40B4-BE49-F238E27FC236}">
                <a16:creationId xmlns:a16="http://schemas.microsoft.com/office/drawing/2014/main" id="{5C598C73-E78B-A10D-506E-68EF3481A72B}"/>
              </a:ext>
            </a:extLst>
          </p:cNvPr>
          <p:cNvSpPr/>
          <p:nvPr/>
        </p:nvSpPr>
        <p:spPr>
          <a:xfrm>
            <a:off x="384048" y="4660167"/>
            <a:ext cx="4096512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r>
              <a:rPr lang="tr-TR" sz="800" dirty="0"/>
              <a:t>Design </a:t>
            </a:r>
            <a:r>
              <a:rPr lang="tr-TR" sz="800" dirty="0" err="1"/>
              <a:t>principles</a:t>
            </a:r>
            <a:r>
              <a:rPr lang="tr-TR" sz="800" dirty="0"/>
              <a:t>: User </a:t>
            </a:r>
            <a:r>
              <a:rPr lang="tr-TR" sz="800" dirty="0" err="1"/>
              <a:t>guidance</a:t>
            </a:r>
            <a:r>
              <a:rPr lang="tr-TR" sz="800" dirty="0"/>
              <a:t> + </a:t>
            </a:r>
            <a:r>
              <a:rPr lang="tr-TR" sz="800" dirty="0" err="1"/>
              <a:t>user</a:t>
            </a:r>
            <a:r>
              <a:rPr lang="tr-TR" sz="800" dirty="0"/>
              <a:t> </a:t>
            </a:r>
            <a:r>
              <a:rPr lang="tr-TR" sz="800" dirty="0" err="1"/>
              <a:t>documentation</a:t>
            </a:r>
            <a:endParaRPr lang="tr-TR" sz="800" dirty="0"/>
          </a:p>
        </p:txBody>
      </p:sp>
      <p:sp>
        <p:nvSpPr>
          <p:cNvPr id="55" name="Shape 28">
            <a:extLst>
              <a:ext uri="{FF2B5EF4-FFF2-40B4-BE49-F238E27FC236}">
                <a16:creationId xmlns:a16="http://schemas.microsoft.com/office/drawing/2014/main" id="{E5D13959-4121-B56A-1046-0FAD1A9E4BC7}"/>
              </a:ext>
            </a:extLst>
          </p:cNvPr>
          <p:cNvSpPr/>
          <p:nvPr/>
        </p:nvSpPr>
        <p:spPr>
          <a:xfrm>
            <a:off x="384048" y="4666712"/>
            <a:ext cx="45720" cy="256032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5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UI DESIGN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84048" y="420624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In-App Assistant — Conversational Navigator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8375904" cy="22860"/>
          </a:xfrm>
          <a:prstGeom prst="rect">
            <a:avLst/>
          </a:prstGeom>
          <a:solidFill>
            <a:srgbClr val="DEC878"/>
          </a:solidFill>
          <a:ln w="1270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5652399" y="1316736"/>
            <a:ext cx="274320" cy="0"/>
          </a:xfrm>
          <a:prstGeom prst="line">
            <a:avLst/>
          </a:prstGeom>
          <a:noFill/>
          <a:ln w="889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5926719" y="1188720"/>
            <a:ext cx="3072384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6054735" y="124358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Free-text input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54735" y="1463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chat panel accepts free-form queries from any role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212719" y="1298448"/>
            <a:ext cx="713232" cy="237744"/>
          </a:xfrm>
          <a:prstGeom prst="rect">
            <a:avLst/>
          </a:prstGeom>
          <a:solidFill>
            <a:srgbClr val="F5E9CB"/>
          </a:solidFill>
          <a:ln w="12700">
            <a:solidFill>
              <a:srgbClr val="F5E9C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8212719" y="1298448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652399" y="1975104"/>
            <a:ext cx="274320" cy="0"/>
          </a:xfrm>
          <a:prstGeom prst="line">
            <a:avLst/>
          </a:prstGeom>
          <a:noFill/>
          <a:ln w="889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5926719" y="1847088"/>
            <a:ext cx="3072384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6054735" y="190195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Rule-based intent match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054735" y="212140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keyword table maps phrases to target views (no LLM)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212719" y="1956816"/>
            <a:ext cx="713232" cy="237744"/>
          </a:xfrm>
          <a:prstGeom prst="rect">
            <a:avLst/>
          </a:prstGeom>
          <a:solidFill>
            <a:srgbClr val="F5E9CB"/>
          </a:solidFill>
          <a:ln w="12700">
            <a:solidFill>
              <a:srgbClr val="F5E9C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8212719" y="1956816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652399" y="2633472"/>
            <a:ext cx="274320" cy="0"/>
          </a:xfrm>
          <a:prstGeom prst="line">
            <a:avLst/>
          </a:prstGeom>
          <a:noFill/>
          <a:ln w="889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Shape 26"/>
          <p:cNvSpPr/>
          <p:nvPr/>
        </p:nvSpPr>
        <p:spPr>
          <a:xfrm>
            <a:off x="5926719" y="2505456"/>
            <a:ext cx="3072384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6054735" y="25603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Role-aware suggestions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54735" y="277977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chips and intents adapt to the active role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212719" y="2615184"/>
            <a:ext cx="713232" cy="237744"/>
          </a:xfrm>
          <a:prstGeom prst="rect">
            <a:avLst/>
          </a:prstGeom>
          <a:solidFill>
            <a:srgbClr val="F5E9CB"/>
          </a:solidFill>
          <a:ln w="12700">
            <a:solidFill>
              <a:srgbClr val="F5E9C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8212719" y="2615184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652399" y="3291840"/>
            <a:ext cx="274320" cy="0"/>
          </a:xfrm>
          <a:prstGeom prst="line">
            <a:avLst/>
          </a:prstGeom>
          <a:noFill/>
          <a:ln w="889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Shape 32"/>
          <p:cNvSpPr/>
          <p:nvPr/>
        </p:nvSpPr>
        <p:spPr>
          <a:xfrm>
            <a:off x="5926719" y="3163824"/>
            <a:ext cx="3072384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6054735" y="321868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page navigation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054735" y="343814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includes a CTA that opens the matched page in one tap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212719" y="3273552"/>
            <a:ext cx="713232" cy="237744"/>
          </a:xfrm>
          <a:prstGeom prst="rect">
            <a:avLst/>
          </a:prstGeom>
          <a:solidFill>
            <a:srgbClr val="F5E9CB"/>
          </a:solidFill>
          <a:ln w="12700">
            <a:solidFill>
              <a:srgbClr val="F5E9C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8212719" y="3273552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652399" y="3950208"/>
            <a:ext cx="274320" cy="0"/>
          </a:xfrm>
          <a:prstGeom prst="line">
            <a:avLst/>
          </a:prstGeom>
          <a:noFill/>
          <a:ln w="889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Shape 38"/>
          <p:cNvSpPr/>
          <p:nvPr/>
        </p:nvSpPr>
        <p:spPr>
          <a:xfrm>
            <a:off x="5926719" y="3822192"/>
            <a:ext cx="3072384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Text 39"/>
          <p:cNvSpPr/>
          <p:nvPr/>
        </p:nvSpPr>
        <p:spPr>
          <a:xfrm>
            <a:off x="6054735" y="38770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Fallback guidance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054735" y="409651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Unmatched queries show example prompts to steer the next try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8212719" y="3931920"/>
            <a:ext cx="713232" cy="237744"/>
          </a:xfrm>
          <a:prstGeom prst="rect">
            <a:avLst/>
          </a:prstGeom>
          <a:solidFill>
            <a:srgbClr val="F5E9CB"/>
          </a:solidFill>
          <a:ln w="12700">
            <a:solidFill>
              <a:srgbClr val="F5E9C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Text 42"/>
          <p:cNvSpPr/>
          <p:nvPr/>
        </p:nvSpPr>
        <p:spPr>
          <a:xfrm>
            <a:off x="8212719" y="3931920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</a:t>
            </a:r>
            <a:endParaRPr lang="en-US" sz="750" dirty="0"/>
          </a:p>
        </p:txBody>
      </p:sp>
      <p:sp>
        <p:nvSpPr>
          <p:cNvPr id="5" name="Shape 27">
            <a:extLst>
              <a:ext uri="{FF2B5EF4-FFF2-40B4-BE49-F238E27FC236}">
                <a16:creationId xmlns:a16="http://schemas.microsoft.com/office/drawing/2014/main" id="{190673A1-FE97-2239-9DA7-615ED9D0F491}"/>
              </a:ext>
            </a:extLst>
          </p:cNvPr>
          <p:cNvSpPr/>
          <p:nvPr/>
        </p:nvSpPr>
        <p:spPr>
          <a:xfrm>
            <a:off x="384047" y="4501674"/>
            <a:ext cx="3653381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r>
              <a:rPr lang="tr-TR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Natural language + form fill-in + menu selection</a:t>
            </a:r>
          </a:p>
        </p:txBody>
      </p:sp>
      <p:sp>
        <p:nvSpPr>
          <p:cNvPr id="6" name="Shape 28">
            <a:extLst>
              <a:ext uri="{FF2B5EF4-FFF2-40B4-BE49-F238E27FC236}">
                <a16:creationId xmlns:a16="http://schemas.microsoft.com/office/drawing/2014/main" id="{D36696AA-BA76-D878-6572-2DDCDDF66451}"/>
              </a:ext>
            </a:extLst>
          </p:cNvPr>
          <p:cNvSpPr/>
          <p:nvPr/>
        </p:nvSpPr>
        <p:spPr>
          <a:xfrm>
            <a:off x="384048" y="4501674"/>
            <a:ext cx="45720" cy="256032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960" y="1150984"/>
            <a:ext cx="3065484" cy="29649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451DA2-BF67-54A0-4490-747AD474A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29E4D75-C692-6BEB-6A8F-6282F7474210}"/>
              </a:ext>
            </a:extLst>
          </p:cNvPr>
          <p:cNvSpPr/>
          <p:nvPr/>
        </p:nvSpPr>
        <p:spPr>
          <a:xfrm>
            <a:off x="384048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5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UI DESIGN</a:t>
            </a:r>
            <a:endParaRPr lang="en-US" sz="7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A94A115-F7AD-AA5B-6BBB-A1BCE63CA1E6}"/>
              </a:ext>
            </a:extLst>
          </p:cNvPr>
          <p:cNvSpPr/>
          <p:nvPr/>
        </p:nvSpPr>
        <p:spPr>
          <a:xfrm>
            <a:off x="384048" y="420624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Help Guide &amp; Role-Based Assistance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A1CBB01-3E67-EC1B-176D-C43C2DB29D14}"/>
              </a:ext>
            </a:extLst>
          </p:cNvPr>
          <p:cNvSpPr/>
          <p:nvPr/>
        </p:nvSpPr>
        <p:spPr>
          <a:xfrm>
            <a:off x="384048" y="1024128"/>
            <a:ext cx="8375904" cy="22860"/>
          </a:xfrm>
          <a:prstGeom prst="rect">
            <a:avLst/>
          </a:prstGeom>
          <a:solidFill>
            <a:srgbClr val="DEC878"/>
          </a:solidFill>
          <a:ln w="1270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95987939-360F-7156-B53E-382CEFC82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779" y="1143000"/>
            <a:ext cx="6400442" cy="3881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028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029200" y="182880"/>
            <a:ext cx="4114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2A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475488" y="1417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5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75488" y="1719072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8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475488" y="2816352"/>
            <a:ext cx="4114800" cy="22860"/>
          </a:xfrm>
          <a:prstGeom prst="rect">
            <a:avLst/>
          </a:prstGeom>
          <a:solidFill>
            <a:srgbClr val="D4A83A"/>
          </a:solidFill>
          <a:ln w="12700">
            <a:solidFill>
              <a:srgbClr val="D4A83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75488" y="296265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· Domain Tests · API Tests · RBAC · Audit · Traceability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5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TESTING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84048" y="420624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 Strategy — Requirements to Verified Workflows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8375904" cy="22860"/>
          </a:xfrm>
          <a:prstGeom prst="rect">
            <a:avLst/>
          </a:prstGeom>
          <a:solidFill>
            <a:srgbClr val="DEC878"/>
          </a:solidFill>
          <a:ln w="1270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384048" y="1097280"/>
            <a:ext cx="8375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are derived from: assignment use cases, project topic, requirements report, architecture report, implemented workflows.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84048" y="1389888"/>
            <a:ext cx="4133088" cy="3218688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101600" dist="38100" dir="8100000" algn="bl" rotWithShape="0">
              <a:srgbClr val="B8A898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384048" y="1389888"/>
            <a:ext cx="4133088" cy="54864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521208" y="149961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1 — Domain Rule Tests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21208" y="182880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A3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tests/domain.test.ts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21208" y="210312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function tests · no server · no database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21208" y="2377440"/>
            <a:ext cx="3840480" cy="22860"/>
          </a:xfrm>
          <a:prstGeom prst="rect">
            <a:avLst/>
          </a:prstGeom>
          <a:solidFill>
            <a:srgbClr val="DED8CE"/>
          </a:solidFill>
          <a:ln w="1270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521208" y="2487168"/>
            <a:ext cx="64008" cy="64008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630936" y="2450592"/>
            <a:ext cx="3730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validation, connector compatibility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21208" y="2907792"/>
            <a:ext cx="64008" cy="64008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630936" y="2871216"/>
            <a:ext cx="3730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duration, 24h limit, operating hours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21208" y="3328416"/>
            <a:ext cx="64008" cy="64008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630936" y="3291840"/>
            <a:ext cx="3730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Double-booking detection, cost calculation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21208" y="3749040"/>
            <a:ext cx="64008" cy="64008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630936" y="3712464"/>
            <a:ext cx="3730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Cents conversion, Haversine distance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21208" y="4169664"/>
            <a:ext cx="64008" cy="64008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630936" y="4133088"/>
            <a:ext cx="3730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slot logic, boundary checks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81728" y="1389888"/>
            <a:ext cx="4133088" cy="3218688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101600" dist="38100" dir="8100000" algn="bl" rotWithShape="0">
              <a:srgbClr val="B8A898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4681728" y="1389888"/>
            <a:ext cx="4133088" cy="54864"/>
          </a:xfrm>
          <a:prstGeom prst="rect">
            <a:avLst/>
          </a:prstGeom>
          <a:solidFill>
            <a:srgbClr val="2A5A8A"/>
          </a:solidFill>
          <a:ln w="12700">
            <a:solidFill>
              <a:srgbClr val="2A5A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4818888" y="149961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5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2 — API Workflow Tests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18888" y="182880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A3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tests/api.test.ts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18888" y="210312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tests via Supertest · validates routes, Prisma, RBAC, DB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818888" y="2377440"/>
            <a:ext cx="3840480" cy="22860"/>
          </a:xfrm>
          <a:prstGeom prst="rect">
            <a:avLst/>
          </a:prstGeom>
          <a:solidFill>
            <a:srgbClr val="DED8CE"/>
          </a:solidFill>
          <a:ln w="1270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Shape 26"/>
          <p:cNvSpPr/>
          <p:nvPr/>
        </p:nvSpPr>
        <p:spPr>
          <a:xfrm>
            <a:off x="4818888" y="2487168"/>
            <a:ext cx="64008" cy="64008"/>
          </a:xfrm>
          <a:prstGeom prst="rect">
            <a:avLst/>
          </a:prstGeom>
          <a:solidFill>
            <a:srgbClr val="2A5A8A"/>
          </a:solidFill>
          <a:ln w="12700">
            <a:solidFill>
              <a:srgbClr val="2A5A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4928616" y="2450592"/>
            <a:ext cx="3730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/api/vehicles, POST /api/reservations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18888" y="2907792"/>
            <a:ext cx="64008" cy="64008"/>
          </a:xfrm>
          <a:prstGeom prst="rect">
            <a:avLst/>
          </a:prstGeom>
          <a:solidFill>
            <a:srgbClr val="2A5A8A"/>
          </a:solidFill>
          <a:ln w="12700">
            <a:solidFill>
              <a:srgbClr val="2A5A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4928616" y="2871216"/>
            <a:ext cx="3730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start/complete, operator status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818888" y="3328416"/>
            <a:ext cx="64008" cy="64008"/>
          </a:xfrm>
          <a:prstGeom prst="rect">
            <a:avLst/>
          </a:prstGeom>
          <a:solidFill>
            <a:srgbClr val="2A5A8A"/>
          </a:solidFill>
          <a:ln w="12700">
            <a:solidFill>
              <a:srgbClr val="2A5A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4928616" y="3291840"/>
            <a:ext cx="3730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reports, audit integrity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18888" y="3749040"/>
            <a:ext cx="64008" cy="64008"/>
          </a:xfrm>
          <a:prstGeom prst="rect">
            <a:avLst/>
          </a:prstGeom>
          <a:solidFill>
            <a:srgbClr val="2A5A8A"/>
          </a:solidFill>
          <a:ln w="12700">
            <a:solidFill>
              <a:srgbClr val="2A5A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4928616" y="3712464"/>
            <a:ext cx="3730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enforcement per endpoint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818888" y="4169664"/>
            <a:ext cx="64008" cy="64008"/>
          </a:xfrm>
          <a:prstGeom prst="rect">
            <a:avLst/>
          </a:prstGeom>
          <a:solidFill>
            <a:srgbClr val="2A5A8A"/>
          </a:solidFill>
          <a:ln w="12700">
            <a:solidFill>
              <a:srgbClr val="2A5A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4928616" y="4133088"/>
            <a:ext cx="3730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reset + seed before tests</a:t>
            </a:r>
            <a:endParaRPr lang="en-US" sz="850" dirty="0"/>
          </a:p>
        </p:txBody>
      </p:sp>
      <p:sp>
        <p:nvSpPr>
          <p:cNvPr id="38" name="Shape 27">
            <a:extLst>
              <a:ext uri="{FF2B5EF4-FFF2-40B4-BE49-F238E27FC236}">
                <a16:creationId xmlns:a16="http://schemas.microsoft.com/office/drawing/2014/main" id="{D65E3A43-A9D3-2FD6-BA52-2CB659587E39}"/>
              </a:ext>
            </a:extLst>
          </p:cNvPr>
          <p:cNvSpPr/>
          <p:nvPr/>
        </p:nvSpPr>
        <p:spPr>
          <a:xfrm>
            <a:off x="384048" y="4686300"/>
            <a:ext cx="4434840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r>
              <a:rPr lang="en-US" sz="800" dirty="0"/>
              <a:t>development testing = unit/domain tests + component/API tests + system/use-case workflow tests.</a:t>
            </a:r>
            <a:endParaRPr lang="tr-TR" sz="800" dirty="0"/>
          </a:p>
        </p:txBody>
      </p:sp>
      <p:sp>
        <p:nvSpPr>
          <p:cNvPr id="39" name="Shape 28">
            <a:extLst>
              <a:ext uri="{FF2B5EF4-FFF2-40B4-BE49-F238E27FC236}">
                <a16:creationId xmlns:a16="http://schemas.microsoft.com/office/drawing/2014/main" id="{C80E2333-09C7-B980-CAF1-0357FFA21EAE}"/>
              </a:ext>
            </a:extLst>
          </p:cNvPr>
          <p:cNvSpPr/>
          <p:nvPr/>
        </p:nvSpPr>
        <p:spPr>
          <a:xfrm>
            <a:off x="384048" y="4692845"/>
            <a:ext cx="46128" cy="256032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5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TESTING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84048" y="420624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 Concepts Applied in Voltline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8375904" cy="22860"/>
          </a:xfrm>
          <a:prstGeom prst="rect">
            <a:avLst/>
          </a:prstGeom>
          <a:solidFill>
            <a:srgbClr val="DEC878"/>
          </a:solidFill>
          <a:ln w="1270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739227"/>
              </p:ext>
            </p:extLst>
          </p:nvPr>
        </p:nvGraphicFramePr>
        <p:xfrm>
          <a:off x="384048" y="1291943"/>
          <a:ext cx="8375904" cy="3337558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4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67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 Concept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Voltline Implementation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7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testing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UC-1 vehicle registration, UC-2 reservation happy path, UC-3 charging session happy path confirm expected requirements.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7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Defect testing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connector, duplicate plate, insufficient wallet, out-of-service charger and RBAC 403 cases expose unsafe behaviour.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7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 testing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and API tests written by the development team during implementation not after release.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7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testing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tests/domain.test.ts verifies isolated business rules such as cost calculation, reservation constraints and validation.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7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 / interface testing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tests/api.test.ts uses Supertest to verify route inputs/outputs, Zod validation, RBAC headers and persistence.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7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/ use-case testing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UC-1, UC-2 and UC-3 exercise several components together through full workflows.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5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TESTING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84048" y="420624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Case Selection: Partitions, Boundaries &amp; Error Conditions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8375904" cy="22860"/>
          </a:xfrm>
          <a:prstGeom prst="rect">
            <a:avLst/>
          </a:prstGeom>
          <a:solidFill>
            <a:srgbClr val="DEC878"/>
          </a:solidFill>
          <a:ln w="1270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384048" y="1463040"/>
            <a:ext cx="2706624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50800" dist="25400" dir="8100000" algn="bl" rotWithShape="0">
              <a:srgbClr val="B8A898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384048" y="1463040"/>
            <a:ext cx="2706624" cy="54864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512064" y="15910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1609344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Equivalence Partitions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12064" y="1965960"/>
            <a:ext cx="2450592" cy="22860"/>
          </a:xfrm>
          <a:prstGeom prst="rect">
            <a:avLst/>
          </a:prstGeom>
          <a:solidFill>
            <a:srgbClr val="DED8CE"/>
          </a:solidFill>
          <a:ln w="1270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512064" y="2029968"/>
            <a:ext cx="2487168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tr-TR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r>
              <a:rPr lang="en-US" sz="850" dirty="0" err="1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alid</a:t>
            </a: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connector vs invalid connector</a:t>
            </a:r>
            <a:endParaRPr lang="tr-TR" sz="850" dirty="0">
              <a:solidFill>
                <a:srgbClr val="3A35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sufficient wallet vs insufficient wallet</a:t>
            </a:r>
            <a:endParaRPr lang="tr-TR" sz="850" dirty="0">
              <a:solidFill>
                <a:srgbClr val="3A35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available charger vs out-of-service charger.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18688" y="1463040"/>
            <a:ext cx="2706624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50800" dist="25400" dir="8100000" algn="bl" rotWithShape="0">
              <a:srgbClr val="B8A898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3218688" y="1463040"/>
            <a:ext cx="2706624" cy="54864"/>
          </a:xfrm>
          <a:prstGeom prst="rect">
            <a:avLst/>
          </a:prstGeom>
          <a:solidFill>
            <a:srgbClr val="2A5A8A"/>
          </a:solidFill>
          <a:ln w="12700">
            <a:solidFill>
              <a:srgbClr val="2A5A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3346704" y="15910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5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58768" y="1609344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Boundary Values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46704" y="1965960"/>
            <a:ext cx="2450592" cy="22860"/>
          </a:xfrm>
          <a:prstGeom prst="rect">
            <a:avLst/>
          </a:prstGeom>
          <a:solidFill>
            <a:srgbClr val="DED8CE"/>
          </a:solidFill>
          <a:ln w="1270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3346704" y="2029968"/>
            <a:ext cx="2487168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Battery capacity range (1–200 kWh)</a:t>
            </a:r>
            <a:endParaRPr lang="tr-TR" sz="850" dirty="0">
              <a:solidFill>
                <a:srgbClr val="3A35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2-hour reservation limit</a:t>
            </a:r>
            <a:endParaRPr lang="tr-TR" sz="850" dirty="0">
              <a:solidFill>
                <a:srgbClr val="3A35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24-hour booking window</a:t>
            </a:r>
            <a:endParaRPr lang="tr-TR" sz="850" dirty="0">
              <a:solidFill>
                <a:srgbClr val="3A35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target SoC limits.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053328" y="1463040"/>
            <a:ext cx="2706624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50800" dist="25400" dir="8100000" algn="bl" rotWithShape="0">
              <a:srgbClr val="B8A898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6053328" y="1463040"/>
            <a:ext cx="2706624" cy="54864"/>
          </a:xfrm>
          <a:prstGeom prst="rect">
            <a:avLst/>
          </a:prstGeom>
          <a:solidFill>
            <a:srgbClr val="4A7A5A"/>
          </a:solidFill>
          <a:ln w="12700">
            <a:solidFill>
              <a:srgbClr val="4A7A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6181344" y="15910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7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93408" y="1609344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Error-Message Forcing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81344" y="1965960"/>
            <a:ext cx="2450592" cy="22860"/>
          </a:xfrm>
          <a:prstGeom prst="rect">
            <a:avLst/>
          </a:prstGeom>
          <a:solidFill>
            <a:srgbClr val="DED8CE"/>
          </a:solidFill>
          <a:ln w="1270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6181344" y="2029968"/>
            <a:ext cx="2487168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tr-TR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r>
              <a:rPr lang="en-US" sz="850" dirty="0" err="1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uplicate</a:t>
            </a: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plate</a:t>
            </a:r>
            <a:endParaRPr lang="tr-TR" sz="850" dirty="0">
              <a:solidFill>
                <a:srgbClr val="3A35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missing required field</a:t>
            </a:r>
            <a:endParaRPr lang="tr-TR" sz="850" dirty="0">
              <a:solidFill>
                <a:srgbClr val="3A35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connector mismatch</a:t>
            </a:r>
            <a:endParaRPr lang="tr-TR" sz="850" dirty="0">
              <a:solidFill>
                <a:srgbClr val="3A35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insufficient balance </a:t>
            </a:r>
            <a:endParaRPr lang="tr-TR" sz="850" dirty="0">
              <a:solidFill>
                <a:srgbClr val="3A35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each triggers a </a:t>
            </a:r>
            <a:r>
              <a:rPr lang="tr-TR" sz="850" dirty="0" err="1"/>
              <a:t>controlled</a:t>
            </a:r>
            <a:r>
              <a:rPr lang="tr-TR" sz="850" dirty="0"/>
              <a:t> </a:t>
            </a:r>
            <a:r>
              <a:rPr lang="tr-TR" sz="850" dirty="0" err="1"/>
              <a:t>validation</a:t>
            </a:r>
            <a:r>
              <a:rPr lang="tr-TR" sz="850" dirty="0"/>
              <a:t>/</a:t>
            </a:r>
            <a:r>
              <a:rPr lang="tr-TR" sz="850" dirty="0" err="1"/>
              <a:t>error</a:t>
            </a:r>
            <a:r>
              <a:rPr lang="tr-TR" sz="850" dirty="0"/>
              <a:t> </a:t>
            </a:r>
            <a:r>
              <a:rPr lang="tr-TR" sz="850" dirty="0" err="1"/>
              <a:t>response</a:t>
            </a:r>
            <a:r>
              <a:rPr lang="tr-TR" sz="850" dirty="0"/>
              <a:t>.</a:t>
            </a: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801368" y="3127248"/>
            <a:ext cx="2706624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50800" dist="25400" dir="8100000" algn="bl" rotWithShape="0">
              <a:srgbClr val="B8A898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1801368" y="3127248"/>
            <a:ext cx="2706624" cy="54864"/>
          </a:xfrm>
          <a:prstGeom prst="rect">
            <a:avLst/>
          </a:prstGeom>
          <a:solidFill>
            <a:srgbClr val="5A3A7A"/>
          </a:solidFill>
          <a:ln w="12700">
            <a:solidFill>
              <a:srgbClr val="5A3A7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1929384" y="32552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3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441448" y="327355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Interface Testing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929384" y="3630168"/>
            <a:ext cx="2450592" cy="22860"/>
          </a:xfrm>
          <a:prstGeom prst="rect">
            <a:avLst/>
          </a:prstGeom>
          <a:solidFill>
            <a:srgbClr val="DED8CE"/>
          </a:solidFill>
          <a:ln w="1270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1929384" y="3694176"/>
            <a:ext cx="2487168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API payload validation with Zod</a:t>
            </a:r>
            <a:endParaRPr lang="tr-TR" sz="850" dirty="0">
              <a:solidFill>
                <a:srgbClr val="3A35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demo RBAC headers</a:t>
            </a:r>
            <a:endParaRPr lang="tr-TR" sz="850" dirty="0">
              <a:solidFill>
                <a:srgbClr val="3A35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route → service → Prisma data transfer verified end-to-end.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636008" y="3127248"/>
            <a:ext cx="2706624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50800" dist="25400" dir="8100000" algn="bl" rotWithShape="0">
              <a:srgbClr val="B8A898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9" name="Shape 37"/>
          <p:cNvSpPr/>
          <p:nvPr/>
        </p:nvSpPr>
        <p:spPr>
          <a:xfrm>
            <a:off x="4636008" y="3127248"/>
            <a:ext cx="2706624" cy="54864"/>
          </a:xfrm>
          <a:prstGeom prst="rect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4764024" y="32552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276088" y="327355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Regression Testing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764024" y="3630168"/>
            <a:ext cx="2450592" cy="22860"/>
          </a:xfrm>
          <a:prstGeom prst="rect">
            <a:avLst/>
          </a:prstGeom>
          <a:solidFill>
            <a:srgbClr val="DED8CE"/>
          </a:solidFill>
          <a:ln w="1270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Text 43"/>
          <p:cNvSpPr/>
          <p:nvPr/>
        </p:nvSpPr>
        <p:spPr>
          <a:xfrm>
            <a:off x="4764024" y="3694176"/>
            <a:ext cx="2487168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50" dirty="0"/>
              <a:t>Automated </a:t>
            </a:r>
            <a:r>
              <a:rPr lang="en-US" sz="850" dirty="0" err="1"/>
              <a:t>Vitest</a:t>
            </a:r>
            <a:r>
              <a:rPr lang="en-US" sz="850" dirty="0"/>
              <a:t> suite reruns after each change; currently 29 tests across 2 suites pass successfully.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5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TESTING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84048" y="420624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Environment &amp; Tools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8375904" cy="22860"/>
          </a:xfrm>
          <a:prstGeom prst="rect">
            <a:avLst/>
          </a:prstGeom>
          <a:solidFill>
            <a:srgbClr val="DEC878"/>
          </a:solidFill>
          <a:ln w="1270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347472" y="1335024"/>
            <a:ext cx="1042416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347472" y="1335024"/>
            <a:ext cx="1042416" cy="36576"/>
          </a:xfrm>
          <a:prstGeom prst="rect">
            <a:avLst/>
          </a:prstGeom>
          <a:solidFill>
            <a:srgbClr val="3A3530"/>
          </a:solidFill>
          <a:ln w="12700">
            <a:solidFill>
              <a:srgbClr val="3A35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347472" y="1426464"/>
            <a:ext cx="1042416" cy="408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test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47472" y="1769547"/>
            <a:ext cx="1042416" cy="2238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1389888" y="1664208"/>
            <a:ext cx="91440" cy="0"/>
          </a:xfrm>
          <a:prstGeom prst="line">
            <a:avLst/>
          </a:prstGeom>
          <a:noFill/>
          <a:ln w="12700">
            <a:solidFill>
              <a:srgbClr val="B8922A"/>
            </a:solidFill>
            <a:prstDash val="solid"/>
            <a:tailEnd type="none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1481328" y="1335024"/>
            <a:ext cx="1042416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1481328" y="1335024"/>
            <a:ext cx="1042416" cy="36576"/>
          </a:xfrm>
          <a:prstGeom prst="rect">
            <a:avLst/>
          </a:prstGeom>
          <a:solidFill>
            <a:srgbClr val="2A5A8A"/>
          </a:solidFill>
          <a:ln w="12700">
            <a:solidFill>
              <a:srgbClr val="2A5A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1481328" y="1426464"/>
            <a:ext cx="1042416" cy="408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generate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481328" y="1769547"/>
            <a:ext cx="1042416" cy="2238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client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2523744" y="1664208"/>
            <a:ext cx="91440" cy="0"/>
          </a:xfrm>
          <a:prstGeom prst="line">
            <a:avLst/>
          </a:prstGeom>
          <a:noFill/>
          <a:ln w="12700">
            <a:solidFill>
              <a:srgbClr val="B8922A"/>
            </a:solidFill>
            <a:prstDash val="solid"/>
            <a:tailEnd type="none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2615184" y="1335024"/>
            <a:ext cx="1042416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2615184" y="1335024"/>
            <a:ext cx="1042416" cy="36576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2615184" y="1426464"/>
            <a:ext cx="1042416" cy="408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init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615184" y="1769547"/>
            <a:ext cx="1042416" cy="2238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reset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3657600" y="1664208"/>
            <a:ext cx="91440" cy="0"/>
          </a:xfrm>
          <a:prstGeom prst="line">
            <a:avLst/>
          </a:prstGeom>
          <a:noFill/>
          <a:ln w="12700">
            <a:solidFill>
              <a:srgbClr val="B8922A"/>
            </a:solidFill>
            <a:prstDash val="solid"/>
            <a:tailEnd type="none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3749040" y="1335024"/>
            <a:ext cx="1042416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3749040" y="1335024"/>
            <a:ext cx="1042416" cy="36576"/>
          </a:xfrm>
          <a:prstGeom prst="rect">
            <a:avLst/>
          </a:prstGeom>
          <a:solidFill>
            <a:srgbClr val="4A7A5A"/>
          </a:solidFill>
          <a:ln w="12700">
            <a:solidFill>
              <a:srgbClr val="4A7A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3749040" y="1426464"/>
            <a:ext cx="1042416" cy="408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run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749040" y="1769547"/>
            <a:ext cx="1042416" cy="2238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4791456" y="1664208"/>
            <a:ext cx="91440" cy="0"/>
          </a:xfrm>
          <a:prstGeom prst="line">
            <a:avLst/>
          </a:prstGeom>
          <a:noFill/>
          <a:ln w="12700">
            <a:solidFill>
              <a:srgbClr val="B8922A"/>
            </a:solidFill>
            <a:prstDash val="solid"/>
            <a:tailEnd type="none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4882896" y="1335024"/>
            <a:ext cx="1042416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4882896" y="1335024"/>
            <a:ext cx="1042416" cy="36576"/>
          </a:xfrm>
          <a:prstGeom prst="rect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4882896" y="1426464"/>
            <a:ext cx="1042416" cy="408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domain.test.ts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882896" y="1769547"/>
            <a:ext cx="1042416" cy="2238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tests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5925312" y="1664208"/>
            <a:ext cx="91440" cy="0"/>
          </a:xfrm>
          <a:prstGeom prst="line">
            <a:avLst/>
          </a:prstGeom>
          <a:noFill/>
          <a:ln w="12700">
            <a:solidFill>
              <a:srgbClr val="B8922A"/>
            </a:solidFill>
            <a:prstDash val="solid"/>
            <a:tailEnd type="none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6016752" y="1335024"/>
            <a:ext cx="1042416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6016752" y="1335024"/>
            <a:ext cx="1042416" cy="36576"/>
          </a:xfrm>
          <a:prstGeom prst="rect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6016752" y="1426464"/>
            <a:ext cx="1042416" cy="408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api.test.ts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016752" y="1769547"/>
            <a:ext cx="1042416" cy="2238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DB side effects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7059168" y="1664208"/>
            <a:ext cx="91440" cy="0"/>
          </a:xfrm>
          <a:prstGeom prst="line">
            <a:avLst/>
          </a:prstGeom>
          <a:noFill/>
          <a:ln w="12700">
            <a:solidFill>
              <a:srgbClr val="B8922A"/>
            </a:solidFill>
            <a:prstDash val="solid"/>
            <a:tailEnd type="none"/>
          </a:ln>
        </p:spPr>
        <p:txBody>
          <a:bodyPr/>
          <a:lstStyle/>
          <a:p>
            <a:endParaRPr lang="tr-TR"/>
          </a:p>
        </p:txBody>
      </p:sp>
      <p:sp>
        <p:nvSpPr>
          <p:cNvPr id="35" name="Shape 33"/>
          <p:cNvSpPr/>
          <p:nvPr/>
        </p:nvSpPr>
        <p:spPr>
          <a:xfrm>
            <a:off x="7150608" y="1335024"/>
            <a:ext cx="1042416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Shape 34"/>
          <p:cNvSpPr/>
          <p:nvPr/>
        </p:nvSpPr>
        <p:spPr>
          <a:xfrm>
            <a:off x="7150608" y="1335024"/>
            <a:ext cx="1042416" cy="36576"/>
          </a:xfrm>
          <a:prstGeom prst="rect">
            <a:avLst/>
          </a:prstGeom>
          <a:solidFill>
            <a:srgbClr val="4A7A5A"/>
          </a:solidFill>
          <a:ln w="12700">
            <a:solidFill>
              <a:srgbClr val="4A7A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7150608" y="1426464"/>
            <a:ext cx="1042416" cy="408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tests passed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suites passed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150608" y="1769547"/>
            <a:ext cx="1042416" cy="2238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384048" y="2212848"/>
            <a:ext cx="263347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Shape 38"/>
          <p:cNvSpPr/>
          <p:nvPr/>
        </p:nvSpPr>
        <p:spPr>
          <a:xfrm>
            <a:off x="384048" y="2212848"/>
            <a:ext cx="45720" cy="713232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Text 39"/>
          <p:cNvSpPr/>
          <p:nvPr/>
        </p:nvSpPr>
        <p:spPr>
          <a:xfrm>
            <a:off x="512064" y="230428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Vitest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12064" y="257860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unit/integration test runner, ESM-compatible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163824" y="2212848"/>
            <a:ext cx="263347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Shape 42"/>
          <p:cNvSpPr/>
          <p:nvPr/>
        </p:nvSpPr>
        <p:spPr>
          <a:xfrm>
            <a:off x="3163824" y="2212848"/>
            <a:ext cx="45720" cy="713232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Text 43"/>
          <p:cNvSpPr/>
          <p:nvPr/>
        </p:nvSpPr>
        <p:spPr>
          <a:xfrm>
            <a:off x="3291840" y="230428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Supertest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291840" y="257860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integration testing through Express app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943600" y="2212848"/>
            <a:ext cx="263347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8" name="Shape 46"/>
          <p:cNvSpPr/>
          <p:nvPr/>
        </p:nvSpPr>
        <p:spPr>
          <a:xfrm>
            <a:off x="5943600" y="2212848"/>
            <a:ext cx="45720" cy="713232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9" name="Text 47"/>
          <p:cNvSpPr/>
          <p:nvPr/>
        </p:nvSpPr>
        <p:spPr>
          <a:xfrm>
            <a:off x="6071616" y="230428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Prisma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071616" y="257860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for SQLite — test DB initialised fresh per run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84048" y="3035808"/>
            <a:ext cx="263347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2" name="Shape 50"/>
          <p:cNvSpPr/>
          <p:nvPr/>
        </p:nvSpPr>
        <p:spPr>
          <a:xfrm>
            <a:off x="384048" y="3035808"/>
            <a:ext cx="45720" cy="713232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3" name="Text 51"/>
          <p:cNvSpPr/>
          <p:nvPr/>
        </p:nvSpPr>
        <p:spPr>
          <a:xfrm>
            <a:off x="512064" y="312724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SQLite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12064" y="340156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embedded DB reset before each suite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163824" y="3035808"/>
            <a:ext cx="263347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6" name="Shape 54"/>
          <p:cNvSpPr/>
          <p:nvPr/>
        </p:nvSpPr>
        <p:spPr>
          <a:xfrm>
            <a:off x="3163824" y="3035808"/>
            <a:ext cx="45720" cy="713232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7" name="Text 55"/>
          <p:cNvSpPr/>
          <p:nvPr/>
        </p:nvSpPr>
        <p:spPr>
          <a:xfrm>
            <a:off x="3291840" y="312724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Zod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3291840" y="340156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 validation in routes — first gate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5943600" y="3035808"/>
            <a:ext cx="263347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0" name="Shape 58"/>
          <p:cNvSpPr/>
          <p:nvPr/>
        </p:nvSpPr>
        <p:spPr>
          <a:xfrm>
            <a:off x="5943600" y="3035808"/>
            <a:ext cx="45720" cy="713232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1" name="Text 59"/>
          <p:cNvSpPr/>
          <p:nvPr/>
        </p:nvSpPr>
        <p:spPr>
          <a:xfrm>
            <a:off x="6071616" y="312724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Seed DB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071616" y="340156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demo data loaded before assertions</a:t>
            </a:r>
            <a:endParaRPr lang="en-US" sz="800" dirty="0"/>
          </a:p>
        </p:txBody>
      </p:sp>
      <p:sp>
        <p:nvSpPr>
          <p:cNvPr id="63" name="Shape 27">
            <a:extLst>
              <a:ext uri="{FF2B5EF4-FFF2-40B4-BE49-F238E27FC236}">
                <a16:creationId xmlns:a16="http://schemas.microsoft.com/office/drawing/2014/main" id="{FF5F0D3C-C318-D6E7-766D-D58CED2CAA09}"/>
              </a:ext>
            </a:extLst>
          </p:cNvPr>
          <p:cNvSpPr/>
          <p:nvPr/>
        </p:nvSpPr>
        <p:spPr>
          <a:xfrm>
            <a:off x="384048" y="4466844"/>
            <a:ext cx="5330952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r>
              <a:rPr lang="en-US" sz="800" dirty="0"/>
              <a:t>Automated testing: </a:t>
            </a:r>
            <a:r>
              <a:rPr lang="en-US" sz="800" dirty="0" err="1"/>
              <a:t>Vitest</a:t>
            </a:r>
            <a:r>
              <a:rPr lang="en-US" sz="800" dirty="0"/>
              <a:t> reruns the suite without manual intervention, supporting regression testing after changes.</a:t>
            </a:r>
            <a:endParaRPr lang="tr-TR" sz="800" dirty="0"/>
          </a:p>
        </p:txBody>
      </p:sp>
      <p:sp>
        <p:nvSpPr>
          <p:cNvPr id="64" name="Shape 28">
            <a:extLst>
              <a:ext uri="{FF2B5EF4-FFF2-40B4-BE49-F238E27FC236}">
                <a16:creationId xmlns:a16="http://schemas.microsoft.com/office/drawing/2014/main" id="{14E34AB9-63FB-0F27-022A-2FEB4C96377A}"/>
              </a:ext>
            </a:extLst>
          </p:cNvPr>
          <p:cNvSpPr/>
          <p:nvPr/>
        </p:nvSpPr>
        <p:spPr>
          <a:xfrm>
            <a:off x="384048" y="4473389"/>
            <a:ext cx="46128" cy="256032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5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TESTING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84048" y="420624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UC-1 · Vehicle Registration Tests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8375904" cy="22860"/>
          </a:xfrm>
          <a:prstGeom prst="rect">
            <a:avLst/>
          </a:prstGeom>
          <a:solidFill>
            <a:srgbClr val="DEC878"/>
          </a:solidFill>
          <a:ln w="1270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4891825"/>
              </p:ext>
            </p:extLst>
          </p:nvPr>
        </p:nvGraphicFramePr>
        <p:xfrm>
          <a:off x="347473" y="1115568"/>
          <a:ext cx="3706815" cy="3476896"/>
        </p:xfrm>
        <a:graphic>
          <a:graphicData uri="http://schemas.openxmlformats.org/drawingml/2006/table">
            <a:tbl>
              <a:tblPr/>
              <a:tblGrid>
                <a:gridCol w="87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9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3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58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67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7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Happy path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Tesla Model 3 · 75 kWh · CCS · 35 EV 2024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 Created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Assignment example — baseline verification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7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plate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35 EV 2024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rejected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Prevents invalid duplicate records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7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battery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kWh or outside 1–200 range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validation error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Boundary check for domain rule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7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Unsupported connector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connector: NACS or unlisted enum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validation error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Protects downstream compatibility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7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required field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field omitted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rejected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form validation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7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Cross-user protection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 2 accesses Driver 1 vehicle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 Forbidden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scope / RBAC security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2" name="Text 49"/>
          <p:cNvSpPr/>
          <p:nvPr/>
        </p:nvSpPr>
        <p:spPr>
          <a:xfrm>
            <a:off x="283464" y="4672584"/>
            <a:ext cx="8430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scenarios pass  ·  Zod validation runs before any Prisma write</a:t>
            </a:r>
            <a:endParaRPr lang="en-US" sz="850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D927563-2826-DAAA-D0CA-FCC4EBC88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0519" y="1721657"/>
            <a:ext cx="4529433" cy="2264717"/>
          </a:xfrm>
          <a:prstGeom prst="rect">
            <a:avLst/>
          </a:prstGeom>
        </p:spPr>
      </p:pic>
      <p:sp>
        <p:nvSpPr>
          <p:cNvPr id="5" name="Shape 27">
            <a:extLst>
              <a:ext uri="{FF2B5EF4-FFF2-40B4-BE49-F238E27FC236}">
                <a16:creationId xmlns:a16="http://schemas.microsoft.com/office/drawing/2014/main" id="{2E52D932-EA25-9104-A1C1-BD6C2E3B709C}"/>
              </a:ext>
            </a:extLst>
          </p:cNvPr>
          <p:cNvSpPr/>
          <p:nvPr/>
        </p:nvSpPr>
        <p:spPr>
          <a:xfrm>
            <a:off x="4230519" y="4302884"/>
            <a:ext cx="2627481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r>
              <a:rPr lang="tr-TR" sz="800" dirty="0"/>
              <a:t>P</a:t>
            </a:r>
            <a:r>
              <a:rPr lang="en-US" sz="800" dirty="0" err="1"/>
              <a:t>artition</a:t>
            </a:r>
            <a:r>
              <a:rPr lang="en-US" sz="800" dirty="0"/>
              <a:t> testing + boundary testing + abnormal input tests</a:t>
            </a:r>
            <a:endParaRPr lang="tr-TR" sz="800" dirty="0"/>
          </a:p>
        </p:txBody>
      </p:sp>
      <p:sp>
        <p:nvSpPr>
          <p:cNvPr id="6" name="Shape 28">
            <a:extLst>
              <a:ext uri="{FF2B5EF4-FFF2-40B4-BE49-F238E27FC236}">
                <a16:creationId xmlns:a16="http://schemas.microsoft.com/office/drawing/2014/main" id="{C0F1D93E-F63B-AC7E-A8BA-35BDAB945DEC}"/>
              </a:ext>
            </a:extLst>
          </p:cNvPr>
          <p:cNvSpPr/>
          <p:nvPr/>
        </p:nvSpPr>
        <p:spPr>
          <a:xfrm>
            <a:off x="4230870" y="4320540"/>
            <a:ext cx="45719" cy="256032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5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TESTING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84048" y="420624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UC-2 · Reservation Happy Path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8375904" cy="22860"/>
          </a:xfrm>
          <a:prstGeom prst="rect">
            <a:avLst/>
          </a:prstGeom>
          <a:solidFill>
            <a:srgbClr val="DEC878"/>
          </a:solidFill>
          <a:ln w="1270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384048" y="1115568"/>
            <a:ext cx="4133088" cy="1342985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50800" dist="25400" dir="8100000" algn="bl" rotWithShape="0">
              <a:srgbClr val="B8A898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384048" y="1115568"/>
            <a:ext cx="4133088" cy="54864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512064" y="120700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10248" y="139674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Registered: Tesla Model 3 · CCS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8432" y="1639159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Station: Karsiyaka Hub · DC 50kW #03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10248" y="185829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Valid time slot within operating hours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10248" y="2113447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Wallet balance ≥ estimated cost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16052" y="2558764"/>
            <a:ext cx="4078224" cy="1620231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50800" dist="25400" dir="8100000" algn="bl" rotWithShape="0">
              <a:srgbClr val="B8A898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406908" y="2540476"/>
            <a:ext cx="4078224" cy="54864"/>
          </a:xfrm>
          <a:prstGeom prst="rect">
            <a:avLst/>
          </a:prstGeom>
          <a:solidFill>
            <a:srgbClr val="4A7A5A"/>
          </a:solidFill>
          <a:ln w="12700">
            <a:solidFill>
              <a:srgbClr val="4A7A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534924" y="263191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7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OUTPUT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4924" y="28696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201 CONFIRMED — reservation created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48640" y="315578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Linked to correct charger and station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48640" y="3407047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Route-ready station data returned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53212" y="36416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UI bootstrap refresh triggered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48640" y="3904675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Confirmation notification created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2628" y="42291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FLOW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2628" y="4466844"/>
            <a:ext cx="1261872" cy="475488"/>
          </a:xfrm>
          <a:prstGeom prst="rect">
            <a:avLst/>
          </a:prstGeom>
          <a:solidFill>
            <a:srgbClr val="F2EDE6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452628" y="4466844"/>
            <a:ext cx="1261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vehicle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714500" y="4704588"/>
            <a:ext cx="128016" cy="0"/>
          </a:xfrm>
          <a:prstGeom prst="line">
            <a:avLst/>
          </a:prstGeom>
          <a:noFill/>
          <a:ln w="12700">
            <a:solidFill>
              <a:srgbClr val="B8922A"/>
            </a:solidFill>
            <a:prstDash val="solid"/>
            <a:tailEnd type="none"/>
          </a:ln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1842516" y="4466844"/>
            <a:ext cx="1261872" cy="475488"/>
          </a:xfrm>
          <a:prstGeom prst="rect">
            <a:avLst/>
          </a:prstGeom>
          <a:solidFill>
            <a:srgbClr val="F2EDE6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1842516" y="4466844"/>
            <a:ext cx="1261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station/charger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104388" y="4704588"/>
            <a:ext cx="128016" cy="0"/>
          </a:xfrm>
          <a:prstGeom prst="line">
            <a:avLst/>
          </a:prstGeom>
          <a:noFill/>
          <a:ln w="12700">
            <a:solidFill>
              <a:srgbClr val="B8922A"/>
            </a:solidFill>
            <a:prstDash val="solid"/>
            <a:tailEnd type="none"/>
          </a:ln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3232404" y="4466844"/>
            <a:ext cx="1261872" cy="475488"/>
          </a:xfrm>
          <a:prstGeom prst="rect">
            <a:avLst/>
          </a:prstGeom>
          <a:solidFill>
            <a:srgbClr val="F2EDE6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3232404" y="4466844"/>
            <a:ext cx="1261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/api/reservations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494276" y="4704588"/>
            <a:ext cx="128016" cy="0"/>
          </a:xfrm>
          <a:prstGeom prst="line">
            <a:avLst/>
          </a:prstGeom>
          <a:noFill/>
          <a:ln w="12700">
            <a:solidFill>
              <a:srgbClr val="B8922A"/>
            </a:solidFill>
            <a:prstDash val="solid"/>
            <a:tailEnd type="none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4622292" y="4466844"/>
            <a:ext cx="1261872" cy="475488"/>
          </a:xfrm>
          <a:prstGeom prst="rect">
            <a:avLst/>
          </a:prstGeom>
          <a:solidFill>
            <a:srgbClr val="F2EDE6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4622292" y="4466844"/>
            <a:ext cx="1261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+ apply rules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884164" y="4704588"/>
            <a:ext cx="128016" cy="0"/>
          </a:xfrm>
          <a:prstGeom prst="line">
            <a:avLst/>
          </a:prstGeom>
          <a:noFill/>
          <a:ln w="12700">
            <a:solidFill>
              <a:srgbClr val="B8922A"/>
            </a:solidFill>
            <a:prstDash val="solid"/>
            <a:tailEnd type="none"/>
          </a:ln>
        </p:spPr>
        <p:txBody>
          <a:bodyPr/>
          <a:lstStyle/>
          <a:p>
            <a:endParaRPr lang="tr-TR"/>
          </a:p>
        </p:txBody>
      </p:sp>
      <p:sp>
        <p:nvSpPr>
          <p:cNvPr id="33" name="Shape 31"/>
          <p:cNvSpPr/>
          <p:nvPr/>
        </p:nvSpPr>
        <p:spPr>
          <a:xfrm>
            <a:off x="6012180" y="4466844"/>
            <a:ext cx="1261872" cy="475488"/>
          </a:xfrm>
          <a:prstGeom prst="rect">
            <a:avLst/>
          </a:prstGeom>
          <a:solidFill>
            <a:srgbClr val="F2EDE6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6012180" y="4466844"/>
            <a:ext cx="1261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in Prisma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274052" y="4704588"/>
            <a:ext cx="128016" cy="0"/>
          </a:xfrm>
          <a:prstGeom prst="line">
            <a:avLst/>
          </a:prstGeom>
          <a:noFill/>
          <a:ln w="12700">
            <a:solidFill>
              <a:srgbClr val="B8922A"/>
            </a:solidFill>
            <a:prstDash val="solid"/>
            <a:tailEnd type="none"/>
          </a:ln>
        </p:spPr>
        <p:txBody>
          <a:bodyPr/>
          <a:lstStyle/>
          <a:p>
            <a:endParaRPr lang="tr-TR"/>
          </a:p>
        </p:txBody>
      </p:sp>
      <p:sp>
        <p:nvSpPr>
          <p:cNvPr id="36" name="Shape 34"/>
          <p:cNvSpPr/>
          <p:nvPr/>
        </p:nvSpPr>
        <p:spPr>
          <a:xfrm>
            <a:off x="7402068" y="4466844"/>
            <a:ext cx="1261872" cy="475488"/>
          </a:xfrm>
          <a:prstGeom prst="rect">
            <a:avLst/>
          </a:prstGeom>
          <a:solidFill>
            <a:srgbClr val="E4F0E8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7402068" y="4466844"/>
            <a:ext cx="1261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CONFIRMED</a:t>
            </a:r>
            <a:endParaRPr lang="en-US" sz="750" dirty="0"/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8D2B0C55-BEFF-8E1C-EA1B-FE5DC6B99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8961" y="1118819"/>
            <a:ext cx="3990991" cy="2469761"/>
          </a:xfrm>
          <a:prstGeom prst="rect">
            <a:avLst/>
          </a:prstGeom>
        </p:spPr>
      </p:pic>
      <p:sp>
        <p:nvSpPr>
          <p:cNvPr id="38" name="Shape 27">
            <a:extLst>
              <a:ext uri="{FF2B5EF4-FFF2-40B4-BE49-F238E27FC236}">
                <a16:creationId xmlns:a16="http://schemas.microsoft.com/office/drawing/2014/main" id="{2DA20C94-DC5C-7296-7FF1-17E1B907A0B3}"/>
              </a:ext>
            </a:extLst>
          </p:cNvPr>
          <p:cNvSpPr/>
          <p:nvPr/>
        </p:nvSpPr>
        <p:spPr>
          <a:xfrm>
            <a:off x="4768961" y="3881724"/>
            <a:ext cx="3552079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r>
              <a:rPr lang="en-US" sz="800" dirty="0"/>
              <a:t>validation testing</a:t>
            </a:r>
            <a:r>
              <a:rPr lang="tr-TR" sz="800" dirty="0"/>
              <a:t>: </a:t>
            </a:r>
            <a:r>
              <a:rPr lang="en-US" sz="800" dirty="0"/>
              <a:t>expected use case confirms the system meets requirements.</a:t>
            </a:r>
            <a:endParaRPr lang="tr-TR" sz="800" dirty="0"/>
          </a:p>
        </p:txBody>
      </p:sp>
      <p:sp>
        <p:nvSpPr>
          <p:cNvPr id="39" name="Shape 28">
            <a:extLst>
              <a:ext uri="{FF2B5EF4-FFF2-40B4-BE49-F238E27FC236}">
                <a16:creationId xmlns:a16="http://schemas.microsoft.com/office/drawing/2014/main" id="{B6B420C7-D217-C109-F68A-D1FE16AAEE96}"/>
              </a:ext>
            </a:extLst>
          </p:cNvPr>
          <p:cNvSpPr/>
          <p:nvPr/>
        </p:nvSpPr>
        <p:spPr>
          <a:xfrm>
            <a:off x="4769312" y="3899380"/>
            <a:ext cx="45719" cy="256032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5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TESTING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84048" y="420624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UC-2 · Reservation Exception Tests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8375904" cy="22860"/>
          </a:xfrm>
          <a:prstGeom prst="rect">
            <a:avLst/>
          </a:prstGeom>
          <a:solidFill>
            <a:srgbClr val="DEC878"/>
          </a:solidFill>
          <a:ln w="1270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3785109"/>
              </p:ext>
            </p:extLst>
          </p:nvPr>
        </p:nvGraphicFramePr>
        <p:xfrm>
          <a:off x="347472" y="1115568"/>
          <a:ext cx="8449056" cy="2912364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39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35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Tested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Example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Output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5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Connector compatibility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CHAdeMO vehicle → CCS charger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 — connector mismatch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EDR-07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5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2h duration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endTime − startTime &gt; 120 min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 — max duration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EDR-08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5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24h advance window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startTime = now + 48h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 — booking window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EDR-08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5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hours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Outside station open/close times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 — outside hours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EDR-08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5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Double-booking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Overlapping slot, same charger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409 Conflict — slot taken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EDR-08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5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Wallet sufficiency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 cost &gt; wallet balance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402 — balance insufficient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PWS-07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35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Out-of-service charger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charger status = OUT_OF_SERVICE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 — unavailable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SOR-01/05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35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 — reserved windows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Exposed without PII/plate number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data leakage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SDR-05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658368" y="5504688"/>
            <a:ext cx="8083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8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expect(r.body.error).toMatch(/connector/i);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384048" y="570128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89E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658368" y="5701284"/>
            <a:ext cx="8083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7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7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C4F2C70-9B6D-4FB6-DFEC-2876104A7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4141539"/>
            <a:ext cx="6777814" cy="487797"/>
          </a:xfrm>
          <a:prstGeom prst="rect">
            <a:avLst/>
          </a:prstGeom>
        </p:spPr>
      </p:pic>
      <p:sp>
        <p:nvSpPr>
          <p:cNvPr id="5" name="Shape 27">
            <a:extLst>
              <a:ext uri="{FF2B5EF4-FFF2-40B4-BE49-F238E27FC236}">
                <a16:creationId xmlns:a16="http://schemas.microsoft.com/office/drawing/2014/main" id="{7CB9CACE-010D-8253-7A98-3F7239142085}"/>
              </a:ext>
            </a:extLst>
          </p:cNvPr>
          <p:cNvSpPr/>
          <p:nvPr/>
        </p:nvSpPr>
        <p:spPr>
          <a:xfrm>
            <a:off x="347472" y="4703854"/>
            <a:ext cx="3552079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r>
              <a:rPr lang="en-US" sz="800" dirty="0"/>
              <a:t>defect testing</a:t>
            </a:r>
            <a:r>
              <a:rPr lang="tr-TR" sz="800" dirty="0"/>
              <a:t>:</a:t>
            </a:r>
            <a:r>
              <a:rPr lang="en-US" sz="800" dirty="0"/>
              <a:t> abnormal inputs expose incorrect or unsafe </a:t>
            </a:r>
            <a:r>
              <a:rPr lang="en-US" sz="800" dirty="0" err="1"/>
              <a:t>behaviour</a:t>
            </a:r>
            <a:r>
              <a:rPr lang="en-US" sz="800" dirty="0"/>
              <a:t>.</a:t>
            </a:r>
            <a:endParaRPr lang="tr-TR" sz="800" dirty="0"/>
          </a:p>
        </p:txBody>
      </p:sp>
      <p:sp>
        <p:nvSpPr>
          <p:cNvPr id="6" name="Shape 28">
            <a:extLst>
              <a:ext uri="{FF2B5EF4-FFF2-40B4-BE49-F238E27FC236}">
                <a16:creationId xmlns:a16="http://schemas.microsoft.com/office/drawing/2014/main" id="{1372D932-5C4D-AB67-676C-E8ED4DFD01B9}"/>
              </a:ext>
            </a:extLst>
          </p:cNvPr>
          <p:cNvSpPr/>
          <p:nvPr/>
        </p:nvSpPr>
        <p:spPr>
          <a:xfrm>
            <a:off x="347823" y="4721510"/>
            <a:ext cx="45719" cy="256032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5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TESTING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84048" y="420624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UC-3 · Charging Session &amp; Cost Calculation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8375904" cy="22860"/>
          </a:xfrm>
          <a:prstGeom prst="rect">
            <a:avLst/>
          </a:prstGeom>
          <a:solidFill>
            <a:srgbClr val="DEC878"/>
          </a:solidFill>
          <a:ln w="1270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384048" y="1115568"/>
            <a:ext cx="4041648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101600" dist="38100" dir="8100000" algn="bl" rotWithShape="0">
              <a:srgbClr val="B8A898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37947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621792" y="124358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capacity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697480" y="124358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 kWh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627632"/>
            <a:ext cx="3794760" cy="384048"/>
          </a:xfrm>
          <a:prstGeom prst="rect">
            <a:avLst/>
          </a:prstGeom>
          <a:solidFill>
            <a:srgbClr val="F2EDE6"/>
          </a:solidFill>
          <a:ln w="381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621792" y="168249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SoC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697480" y="168249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066544"/>
            <a:ext cx="37947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621792" y="21214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SoC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97480" y="21214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80 %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505456"/>
            <a:ext cx="3794760" cy="384048"/>
          </a:xfrm>
          <a:prstGeom prst="rect">
            <a:avLst/>
          </a:prstGeom>
          <a:solidFill>
            <a:srgbClr val="F2EDE6"/>
          </a:solidFill>
          <a:ln w="381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621792" y="2560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SoC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97480" y="2560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60 %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2944368"/>
            <a:ext cx="37947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621792" y="29992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delivered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97480" y="299923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 kWh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3383280"/>
            <a:ext cx="3794760" cy="384048"/>
          </a:xfrm>
          <a:prstGeom prst="rect">
            <a:avLst/>
          </a:prstGeom>
          <a:solidFill>
            <a:srgbClr val="F2EDE6"/>
          </a:solidFill>
          <a:ln w="381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621792" y="343814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per kWh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697480" y="343814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4.00 TL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3858768"/>
            <a:ext cx="3794760" cy="438912"/>
          </a:xfrm>
          <a:prstGeom prst="rect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502920" y="3858768"/>
            <a:ext cx="3794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 kWh  ×  4 TL/kWh  =  180 TL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08576" y="1115568"/>
            <a:ext cx="4151376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50800" dist="25400" dir="8100000" algn="bl" rotWithShape="0">
              <a:srgbClr val="B8A898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4608576" y="1115568"/>
            <a:ext cx="4151376" cy="54864"/>
          </a:xfrm>
          <a:prstGeom prst="rect">
            <a:avLst/>
          </a:prstGeom>
          <a:solidFill>
            <a:srgbClr val="4A7A5A"/>
          </a:solidFill>
          <a:ln w="12700">
            <a:solidFill>
              <a:srgbClr val="4A7A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4736592" y="1207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7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Outputs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36592" y="15361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energyKwh = 45, totalCost = 180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36592" y="18288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Digital receipt generated (CHG type)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36592" y="21214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Wallet deducted by 180 TL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36592" y="24140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Charging history updated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36592" y="270662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Charger status released → AVAILABLE</a:t>
            </a:r>
            <a:endParaRPr lang="en-US" sz="850" dirty="0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8E4A2544-6B8E-5619-B15B-D9A7C6EEF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576" y="3091085"/>
            <a:ext cx="4151376" cy="858709"/>
          </a:xfrm>
          <a:prstGeom prst="rect">
            <a:avLst/>
          </a:prstGeom>
        </p:spPr>
      </p:pic>
      <p:sp>
        <p:nvSpPr>
          <p:cNvPr id="34" name="Shape 27">
            <a:extLst>
              <a:ext uri="{FF2B5EF4-FFF2-40B4-BE49-F238E27FC236}">
                <a16:creationId xmlns:a16="http://schemas.microsoft.com/office/drawing/2014/main" id="{48F91681-4DFB-3EE9-C727-81D969456930}"/>
              </a:ext>
            </a:extLst>
          </p:cNvPr>
          <p:cNvSpPr/>
          <p:nvPr/>
        </p:nvSpPr>
        <p:spPr>
          <a:xfrm>
            <a:off x="4608577" y="4117583"/>
            <a:ext cx="2129856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r>
              <a:rPr lang="en-US" sz="800" dirty="0"/>
              <a:t>boundary values + timing/interface </a:t>
            </a:r>
            <a:r>
              <a:rPr lang="en-US" sz="800" dirty="0" err="1"/>
              <a:t>behaviour</a:t>
            </a:r>
            <a:endParaRPr lang="tr-TR" sz="800" dirty="0"/>
          </a:p>
        </p:txBody>
      </p:sp>
      <p:sp>
        <p:nvSpPr>
          <p:cNvPr id="35" name="Shape 28">
            <a:extLst>
              <a:ext uri="{FF2B5EF4-FFF2-40B4-BE49-F238E27FC236}">
                <a16:creationId xmlns:a16="http://schemas.microsoft.com/office/drawing/2014/main" id="{B2D19105-B4BC-7A6D-D114-F0AFB4C2FBFA}"/>
              </a:ext>
            </a:extLst>
          </p:cNvPr>
          <p:cNvSpPr/>
          <p:nvPr/>
        </p:nvSpPr>
        <p:spPr>
          <a:xfrm>
            <a:off x="4608927" y="4135239"/>
            <a:ext cx="45719" cy="256032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5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TESTING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84048" y="420624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UC-3 · Edge Cases: Safe Stop, Sync Recovery, Fault Handling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8375904" cy="22860"/>
          </a:xfrm>
          <a:prstGeom prst="rect">
            <a:avLst/>
          </a:prstGeom>
          <a:solidFill>
            <a:srgbClr val="DEC878"/>
          </a:solidFill>
          <a:ln w="1270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7874467"/>
              </p:ext>
            </p:extLst>
          </p:nvPr>
        </p:nvGraphicFramePr>
        <p:xfrm>
          <a:off x="347472" y="1115568"/>
          <a:ext cx="8449056" cy="2418384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10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3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Output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SoC auto-stop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60%, end requested at 80%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stops at target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EDR-17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Connectivity recovery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Simulate sync loss + restore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Status: SYNCED, data reconciled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EDR-18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Wallet depletion mid-session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 depleted during charge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INTERRUPTED · wallet 0 · LOW_BALANCE notification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PWS-08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Two-hour limit reached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exceeds 2h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Auto-stop with limit notification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EDR-08/09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Charger fault / malfunction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Malfunction trigger during session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 delivered energy only · notification · audit trace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UC-3 exceptions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6" name="Text 33"/>
          <p:cNvSpPr/>
          <p:nvPr/>
        </p:nvSpPr>
        <p:spPr>
          <a:xfrm>
            <a:off x="347472" y="4850892"/>
            <a:ext cx="84490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edge cases verified in tests/domain.test.ts and tests/api.test.ts</a:t>
            </a:r>
            <a:endParaRPr lang="en-US" sz="85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25CC35DC-0029-25E5-C770-61834F2BE3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2563" y="3649920"/>
            <a:ext cx="4967389" cy="507887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DEE57E58-DD1D-FBA8-435B-EF9567A7E0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7343" y="4273775"/>
            <a:ext cx="4252609" cy="510026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7E694AA5-591A-EF27-DA36-75B6041BB9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3649921"/>
            <a:ext cx="2661607" cy="5402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5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TESTING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84048" y="420624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Wallet, Refund, No-Show &amp; Financial Integrity Tests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8375904" cy="22860"/>
          </a:xfrm>
          <a:prstGeom prst="rect">
            <a:avLst/>
          </a:prstGeom>
          <a:solidFill>
            <a:srgbClr val="DEC878"/>
          </a:solidFill>
          <a:ln w="1270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347472" y="1316736"/>
            <a:ext cx="27432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50800" dist="25400" dir="8100000" algn="bl" rotWithShape="0">
              <a:srgbClr val="B8A898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347472" y="1316736"/>
            <a:ext cx="45720" cy="1170432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75488" y="14081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Charging payment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5488" y="171907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deducted correctly, CHG receipt generated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0" y="2103120"/>
            <a:ext cx="749808" cy="201168"/>
          </a:xfrm>
          <a:prstGeom prst="rect">
            <a:avLst/>
          </a:prstGeom>
          <a:solidFill>
            <a:srgbClr val="F5E9CB"/>
          </a:solidFill>
          <a:ln w="12700">
            <a:solidFill>
              <a:srgbClr val="F5E9C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2286000" y="2103120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PWS-02, GRR-01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200400" y="2615184"/>
            <a:ext cx="27432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50800" dist="25400" dir="8100000" algn="bl" rotWithShape="0">
              <a:srgbClr val="B8A898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3200400" y="2615184"/>
            <a:ext cx="45720" cy="1170432"/>
          </a:xfrm>
          <a:prstGeom prst="rect">
            <a:avLst/>
          </a:prstGeom>
          <a:solidFill>
            <a:srgbClr val="2A5A8A"/>
          </a:solidFill>
          <a:ln w="12700">
            <a:solidFill>
              <a:srgbClr val="2A5A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3328416" y="27066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Reservation cancellation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28416" y="30175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status, refund returned, REF receipt, REFUND transaction created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138928" y="3401568"/>
            <a:ext cx="749808" cy="201168"/>
          </a:xfrm>
          <a:prstGeom prst="rect">
            <a:avLst/>
          </a:prstGeom>
          <a:solidFill>
            <a:srgbClr val="F5E9CB"/>
          </a:solidFill>
          <a:ln w="12700">
            <a:solidFill>
              <a:srgbClr val="F5E9C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5138928" y="3401568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PWS-04, EDR-14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47472" y="2615184"/>
            <a:ext cx="27432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50800" dist="25400" dir="8100000" algn="bl" rotWithShape="0">
              <a:srgbClr val="B8A898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347472" y="2615184"/>
            <a:ext cx="45720" cy="1170432"/>
          </a:xfrm>
          <a:prstGeom prst="rect">
            <a:avLst/>
          </a:prstGeom>
          <a:solidFill>
            <a:srgbClr val="4A7A5A"/>
          </a:solidFill>
          <a:ln w="12700">
            <a:solidFill>
              <a:srgbClr val="4A7A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475488" y="27066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No-show detection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" y="30175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marked NO_SHOW after 15 min, slot released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286000" y="3401568"/>
            <a:ext cx="749808" cy="201168"/>
          </a:xfrm>
          <a:prstGeom prst="rect">
            <a:avLst/>
          </a:prstGeom>
          <a:solidFill>
            <a:srgbClr val="F5E9CB"/>
          </a:solidFill>
          <a:ln w="12700">
            <a:solidFill>
              <a:srgbClr val="F5E9C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2286000" y="3401568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EDR-16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053328" y="1320384"/>
            <a:ext cx="27432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50800" dist="25400" dir="8100000" algn="bl" rotWithShape="0">
              <a:srgbClr val="B8A898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6053328" y="1320384"/>
            <a:ext cx="45720" cy="1170432"/>
          </a:xfrm>
          <a:prstGeom prst="rect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6181344" y="14118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Cents-based money storage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81344" y="17227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amounts stored as integers (cents) to prevent floating-point money errors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991856" y="2106768"/>
            <a:ext cx="749808" cy="201168"/>
          </a:xfrm>
          <a:prstGeom prst="rect">
            <a:avLst/>
          </a:prstGeom>
          <a:solidFill>
            <a:srgbClr val="F5E9CB"/>
          </a:solidFill>
          <a:ln w="12700">
            <a:solidFill>
              <a:srgbClr val="F5E9C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7991856" y="2106768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PWS-02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200400" y="1316736"/>
            <a:ext cx="27432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50800" dist="25400" dir="8100000" algn="bl" rotWithShape="0">
              <a:srgbClr val="B8A898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3200400" y="1316736"/>
            <a:ext cx="45720" cy="1170432"/>
          </a:xfrm>
          <a:prstGeom prst="rect">
            <a:avLst/>
          </a:prstGeom>
          <a:solidFill>
            <a:srgbClr val="8A3030"/>
          </a:solidFill>
          <a:ln w="12700">
            <a:solidFill>
              <a:srgbClr val="8A3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3328416" y="14081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Wallet access protection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328416" y="171907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2 cannot access or top up Driver 1's wallet — 403 returned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138928" y="2103120"/>
            <a:ext cx="749808" cy="201168"/>
          </a:xfrm>
          <a:prstGeom prst="rect">
            <a:avLst/>
          </a:prstGeom>
          <a:solidFill>
            <a:srgbClr val="F5E9CB"/>
          </a:solidFill>
          <a:ln w="12700">
            <a:solidFill>
              <a:srgbClr val="F5E9C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5138928" y="2103120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SDR-05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053328" y="2615184"/>
            <a:ext cx="27432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50800" dist="25400" dir="8100000" algn="bl" rotWithShape="0">
              <a:srgbClr val="B8A898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6" name="Shape 34"/>
          <p:cNvSpPr/>
          <p:nvPr/>
        </p:nvSpPr>
        <p:spPr>
          <a:xfrm>
            <a:off x="6053328" y="2615184"/>
            <a:ext cx="45720" cy="1170432"/>
          </a:xfrm>
          <a:prstGeom prst="rect">
            <a:avLst/>
          </a:prstGeom>
          <a:solidFill>
            <a:srgbClr val="5A3A7A"/>
          </a:solidFill>
          <a:ln w="12700">
            <a:solidFill>
              <a:srgbClr val="5A3A7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6181344" y="27066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Insufficient balance guard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181344" y="30175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rejected when estimated cost &gt; wallet balance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991856" y="3401568"/>
            <a:ext cx="749808" cy="201168"/>
          </a:xfrm>
          <a:prstGeom prst="rect">
            <a:avLst/>
          </a:prstGeom>
          <a:solidFill>
            <a:srgbClr val="F5E9CB"/>
          </a:solidFill>
          <a:ln w="12700">
            <a:solidFill>
              <a:srgbClr val="F5E9C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7991856" y="3401568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PWS-07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274320" y="4027932"/>
            <a:ext cx="84490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access cross-checks prevent financial data leakage between driver accounts.</a:t>
            </a:r>
            <a:endParaRPr lang="en-US" sz="8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5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TESTING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84048" y="420624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Operator Workflow Tests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8375904" cy="22860"/>
          </a:xfrm>
          <a:prstGeom prst="rect">
            <a:avLst/>
          </a:prstGeom>
          <a:solidFill>
            <a:srgbClr val="DEC878"/>
          </a:solidFill>
          <a:ln w="1270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384048" y="109728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OUT-OF-SERVICE CASCADE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84048" y="1444752"/>
            <a:ext cx="274320" cy="274320"/>
          </a:xfrm>
          <a:prstGeom prst="ellipse">
            <a:avLst/>
          </a:prstGeom>
          <a:solidFill>
            <a:srgbClr val="8A3030"/>
          </a:solidFill>
          <a:ln w="12700">
            <a:solidFill>
              <a:srgbClr val="8A3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384048" y="14447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49808" y="1353312"/>
            <a:ext cx="4133088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749808" y="1353312"/>
            <a:ext cx="36576" cy="475488"/>
          </a:xfrm>
          <a:prstGeom prst="rect">
            <a:avLst/>
          </a:prstGeom>
          <a:solidFill>
            <a:srgbClr val="8A3030"/>
          </a:solidFill>
          <a:ln w="12700">
            <a:solidFill>
              <a:srgbClr val="8A3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877824" y="1389888"/>
            <a:ext cx="39136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marks charger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OUT_OF_SERVICE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21208" y="1792224"/>
            <a:ext cx="0" cy="128016"/>
          </a:xfrm>
          <a:prstGeom prst="line">
            <a:avLst/>
          </a:prstGeom>
          <a:noFill/>
          <a:ln w="1016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384048" y="2011680"/>
            <a:ext cx="274320" cy="274320"/>
          </a:xfrm>
          <a:prstGeom prst="ellipse">
            <a:avLst/>
          </a:prstGeom>
          <a:solidFill>
            <a:srgbClr val="2A5A8A"/>
          </a:solidFill>
          <a:ln w="12700">
            <a:solidFill>
              <a:srgbClr val="2A5A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384048" y="2011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49808" y="1920240"/>
            <a:ext cx="4133088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749808" y="1920240"/>
            <a:ext cx="36576" cy="475488"/>
          </a:xfrm>
          <a:prstGeom prst="rect">
            <a:avLst/>
          </a:prstGeom>
          <a:solidFill>
            <a:srgbClr val="2A5A8A"/>
          </a:solidFill>
          <a:ln w="12700">
            <a:solidFill>
              <a:srgbClr val="2A5A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877824" y="1956816"/>
            <a:ext cx="39136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queries all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reservations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21208" y="2359152"/>
            <a:ext cx="0" cy="128016"/>
          </a:xfrm>
          <a:prstGeom prst="line">
            <a:avLst/>
          </a:prstGeom>
          <a:noFill/>
          <a:ln w="1016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384048" y="2578608"/>
            <a:ext cx="274320" cy="274320"/>
          </a:xfrm>
          <a:prstGeom prst="ellipse">
            <a:avLst/>
          </a:prstGeom>
          <a:solidFill>
            <a:srgbClr val="8A3030"/>
          </a:solidFill>
          <a:ln w="12700">
            <a:solidFill>
              <a:srgbClr val="8A3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384048" y="25786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49808" y="2487168"/>
            <a:ext cx="4133088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749808" y="2487168"/>
            <a:ext cx="36576" cy="475488"/>
          </a:xfrm>
          <a:prstGeom prst="rect">
            <a:avLst/>
          </a:prstGeom>
          <a:solidFill>
            <a:srgbClr val="8A3030"/>
          </a:solidFill>
          <a:ln w="12700">
            <a:solidFill>
              <a:srgbClr val="8A3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877824" y="2523744"/>
            <a:ext cx="39136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reservation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CANCELLED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21208" y="2926080"/>
            <a:ext cx="0" cy="128016"/>
          </a:xfrm>
          <a:prstGeom prst="line">
            <a:avLst/>
          </a:prstGeom>
          <a:noFill/>
          <a:ln w="1016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384048" y="3145536"/>
            <a:ext cx="274320" cy="274320"/>
          </a:xfrm>
          <a:prstGeom prst="ellipse">
            <a:avLst/>
          </a:prstGeom>
          <a:solidFill>
            <a:srgbClr val="4A7A5A"/>
          </a:solidFill>
          <a:ln w="12700">
            <a:solidFill>
              <a:srgbClr val="4A7A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384048" y="31455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49808" y="3054096"/>
            <a:ext cx="4133088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749808" y="3054096"/>
            <a:ext cx="36576" cy="475488"/>
          </a:xfrm>
          <a:prstGeom prst="rect">
            <a:avLst/>
          </a:prstGeom>
          <a:solidFill>
            <a:srgbClr val="4A7A5A"/>
          </a:solidFill>
          <a:ln w="12700">
            <a:solidFill>
              <a:srgbClr val="4A7A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877824" y="3090672"/>
            <a:ext cx="39136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transaction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21208" y="3493008"/>
            <a:ext cx="0" cy="128016"/>
          </a:xfrm>
          <a:prstGeom prst="line">
            <a:avLst/>
          </a:prstGeom>
          <a:noFill/>
          <a:ln w="1016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384048" y="3712464"/>
            <a:ext cx="274320" cy="274320"/>
          </a:xfrm>
          <a:prstGeom prst="ellipse">
            <a:avLst/>
          </a:prstGeom>
          <a:solidFill>
            <a:srgbClr val="5A3A7A"/>
          </a:solidFill>
          <a:ln w="12700">
            <a:solidFill>
              <a:srgbClr val="5A3A7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384048" y="37124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49808" y="3621024"/>
            <a:ext cx="4133088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Shape 31"/>
          <p:cNvSpPr/>
          <p:nvPr/>
        </p:nvSpPr>
        <p:spPr>
          <a:xfrm>
            <a:off x="749808" y="3621024"/>
            <a:ext cx="36576" cy="475488"/>
          </a:xfrm>
          <a:prstGeom prst="rect">
            <a:avLst/>
          </a:prstGeom>
          <a:solidFill>
            <a:srgbClr val="5A3A7A"/>
          </a:solidFill>
          <a:ln w="12700">
            <a:solidFill>
              <a:srgbClr val="5A3A7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877824" y="3657600"/>
            <a:ext cx="39136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RESERVATION_CANCELLED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sent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21208" y="4059936"/>
            <a:ext cx="0" cy="128016"/>
          </a:xfrm>
          <a:prstGeom prst="line">
            <a:avLst/>
          </a:prstGeom>
          <a:noFill/>
          <a:ln w="1016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Shape 34"/>
          <p:cNvSpPr/>
          <p:nvPr/>
        </p:nvSpPr>
        <p:spPr>
          <a:xfrm>
            <a:off x="384048" y="4279392"/>
            <a:ext cx="274320" cy="274320"/>
          </a:xfrm>
          <a:prstGeom prst="ellipse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384048" y="4279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49808" y="4187952"/>
            <a:ext cx="4133088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Shape 37"/>
          <p:cNvSpPr/>
          <p:nvPr/>
        </p:nvSpPr>
        <p:spPr>
          <a:xfrm>
            <a:off x="749808" y="4187952"/>
            <a:ext cx="36576" cy="475488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877824" y="4224528"/>
            <a:ext cx="39136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marker updates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RED / unavailable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193792" y="1115568"/>
            <a:ext cx="3566160" cy="3072384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101600" dist="38100" dir="8100000" algn="bl" rotWithShape="0">
              <a:srgbClr val="B8A898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2" name="Shape 40"/>
          <p:cNvSpPr/>
          <p:nvPr/>
        </p:nvSpPr>
        <p:spPr>
          <a:xfrm>
            <a:off x="5193792" y="1115568"/>
            <a:ext cx="3566160" cy="54864"/>
          </a:xfrm>
          <a:prstGeom prst="rect">
            <a:avLst/>
          </a:prstGeom>
          <a:solidFill>
            <a:srgbClr val="2A5A8A"/>
          </a:solidFill>
          <a:ln w="12700">
            <a:solidFill>
              <a:srgbClr val="2A5A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5321808" y="122529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5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Operator Tests Verified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321808" y="1572768"/>
            <a:ext cx="91440" cy="91440"/>
          </a:xfrm>
          <a:prstGeom prst="rect">
            <a:avLst/>
          </a:prstGeom>
          <a:solidFill>
            <a:srgbClr val="4A7A5A"/>
          </a:solidFill>
          <a:ln w="12700">
            <a:solidFill>
              <a:srgbClr val="4A7A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Text 43"/>
          <p:cNvSpPr/>
          <p:nvPr/>
        </p:nvSpPr>
        <p:spPr>
          <a:xfrm>
            <a:off x="5486400" y="1536192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info update (name, address, hours)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321808" y="1901952"/>
            <a:ext cx="91440" cy="91440"/>
          </a:xfrm>
          <a:prstGeom prst="rect">
            <a:avLst/>
          </a:prstGeom>
          <a:solidFill>
            <a:srgbClr val="4A7A5A"/>
          </a:solidFill>
          <a:ln w="12700">
            <a:solidFill>
              <a:srgbClr val="4A7A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7" name="Text 45"/>
          <p:cNvSpPr/>
          <p:nvPr/>
        </p:nvSpPr>
        <p:spPr>
          <a:xfrm>
            <a:off x="5486400" y="1865376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 pricing update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321808" y="2231136"/>
            <a:ext cx="91440" cy="91440"/>
          </a:xfrm>
          <a:prstGeom prst="rect">
            <a:avLst/>
          </a:prstGeom>
          <a:solidFill>
            <a:srgbClr val="4A7A5A"/>
          </a:solidFill>
          <a:ln w="12700">
            <a:solidFill>
              <a:srgbClr val="4A7A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9" name="Text 47"/>
          <p:cNvSpPr/>
          <p:nvPr/>
        </p:nvSpPr>
        <p:spPr>
          <a:xfrm>
            <a:off x="5486400" y="2194560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 status update (Available/OOS)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321808" y="2560320"/>
            <a:ext cx="91440" cy="91440"/>
          </a:xfrm>
          <a:prstGeom prst="rect">
            <a:avLst/>
          </a:prstGeom>
          <a:solidFill>
            <a:srgbClr val="4A7A5A"/>
          </a:solidFill>
          <a:ln w="12700">
            <a:solidFill>
              <a:srgbClr val="4A7A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1" name="Text 49"/>
          <p:cNvSpPr/>
          <p:nvPr/>
        </p:nvSpPr>
        <p:spPr>
          <a:xfrm>
            <a:off x="5486400" y="2523744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report creation and status update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321808" y="2889504"/>
            <a:ext cx="91440" cy="91440"/>
          </a:xfrm>
          <a:prstGeom prst="rect">
            <a:avLst/>
          </a:prstGeom>
          <a:solidFill>
            <a:srgbClr val="4A7A5A"/>
          </a:solidFill>
          <a:ln w="12700">
            <a:solidFill>
              <a:srgbClr val="4A7A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3" name="Text 51"/>
          <p:cNvSpPr/>
          <p:nvPr/>
        </p:nvSpPr>
        <p:spPr>
          <a:xfrm>
            <a:off x="5486400" y="2852928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cascade: reservations cancelled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321808" y="3218688"/>
            <a:ext cx="91440" cy="91440"/>
          </a:xfrm>
          <a:prstGeom prst="rect">
            <a:avLst/>
          </a:prstGeom>
          <a:solidFill>
            <a:srgbClr val="4A7A5A"/>
          </a:solidFill>
          <a:ln w="12700">
            <a:solidFill>
              <a:srgbClr val="4A7A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5" name="Text 53"/>
          <p:cNvSpPr/>
          <p:nvPr/>
        </p:nvSpPr>
        <p:spPr>
          <a:xfrm>
            <a:off x="5486400" y="3182112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cascade: affected users notified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321808" y="3547872"/>
            <a:ext cx="91440" cy="91440"/>
          </a:xfrm>
          <a:prstGeom prst="rect">
            <a:avLst/>
          </a:prstGeom>
          <a:solidFill>
            <a:srgbClr val="4A7A5A"/>
          </a:solidFill>
          <a:ln w="12700">
            <a:solidFill>
              <a:srgbClr val="4A7A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7" name="Text 55"/>
          <p:cNvSpPr/>
          <p:nvPr/>
        </p:nvSpPr>
        <p:spPr>
          <a:xfrm>
            <a:off x="5486400" y="3511296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cascade: affectedReservations count returned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321808" y="3877056"/>
            <a:ext cx="91440" cy="91440"/>
          </a:xfrm>
          <a:prstGeom prst="rect">
            <a:avLst/>
          </a:prstGeom>
          <a:solidFill>
            <a:srgbClr val="4A7A5A"/>
          </a:solidFill>
          <a:ln w="12700">
            <a:solidFill>
              <a:srgbClr val="4A7A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9" name="Text 57"/>
          <p:cNvSpPr/>
          <p:nvPr/>
        </p:nvSpPr>
        <p:spPr>
          <a:xfrm>
            <a:off x="5486400" y="3840480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permissions (403 for admin-only endpoints)</a:t>
            </a:r>
            <a:endParaRPr lang="en-US" sz="850" dirty="0"/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551A7135-CAE8-C4A9-6682-B0556714C6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762167"/>
            <a:ext cx="7375737" cy="204881"/>
          </a:xfrm>
          <a:prstGeom prst="rect">
            <a:avLst/>
          </a:prstGeom>
        </p:spPr>
      </p:pic>
      <p:sp>
        <p:nvSpPr>
          <p:cNvPr id="60" name="Shape 27">
            <a:extLst>
              <a:ext uri="{FF2B5EF4-FFF2-40B4-BE49-F238E27FC236}">
                <a16:creationId xmlns:a16="http://schemas.microsoft.com/office/drawing/2014/main" id="{ECB1D75A-A891-DB96-683C-494E16BE1782}"/>
              </a:ext>
            </a:extLst>
          </p:cNvPr>
          <p:cNvSpPr/>
          <p:nvPr/>
        </p:nvSpPr>
        <p:spPr>
          <a:xfrm>
            <a:off x="5193792" y="4344357"/>
            <a:ext cx="3500042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r>
              <a:rPr lang="en-US" sz="800" dirty="0"/>
              <a:t>system testing</a:t>
            </a:r>
            <a:r>
              <a:rPr lang="tr-TR" sz="800" dirty="0"/>
              <a:t>:</a:t>
            </a:r>
            <a:r>
              <a:rPr lang="en-US" sz="800" dirty="0"/>
              <a:t> multiple components interact through one operational scenario.</a:t>
            </a:r>
            <a:endParaRPr lang="tr-TR" sz="800" dirty="0"/>
          </a:p>
        </p:txBody>
      </p:sp>
      <p:sp>
        <p:nvSpPr>
          <p:cNvPr id="61" name="Shape 28">
            <a:extLst>
              <a:ext uri="{FF2B5EF4-FFF2-40B4-BE49-F238E27FC236}">
                <a16:creationId xmlns:a16="http://schemas.microsoft.com/office/drawing/2014/main" id="{2D5C8D5D-5975-88EC-F0D3-4862F1F9D793}"/>
              </a:ext>
            </a:extLst>
          </p:cNvPr>
          <p:cNvSpPr/>
          <p:nvPr/>
        </p:nvSpPr>
        <p:spPr>
          <a:xfrm>
            <a:off x="5194142" y="4362013"/>
            <a:ext cx="45719" cy="256032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5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TESTING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84048" y="420624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Admin, Reports, Security Alert &amp; RBAC Tests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8375904" cy="22860"/>
          </a:xfrm>
          <a:prstGeom prst="rect">
            <a:avLst/>
          </a:prstGeom>
          <a:solidFill>
            <a:srgbClr val="DEC878"/>
          </a:solidFill>
          <a:ln w="1270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347472" y="109728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ENDPOINT MATRIX</a:t>
            </a:r>
            <a:endParaRPr lang="en-US" sz="75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1335024"/>
          <a:ext cx="5102352" cy="2267713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3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63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63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39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 Driver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9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/api/audit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403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403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200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9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/api/admin/reports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403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403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200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9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 /api/operator/chargers/:id/status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403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200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200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9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/api/admin/stations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403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403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201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9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 /api/admin/users/:id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403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403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200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9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/api/reservations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201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403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201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50992" y="1115568"/>
            <a:ext cx="3145536" cy="2487168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101600" dist="38100" dir="8100000" algn="bl" rotWithShape="0">
              <a:srgbClr val="B8A898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Shape 5"/>
          <p:cNvSpPr/>
          <p:nvPr/>
        </p:nvSpPr>
        <p:spPr>
          <a:xfrm>
            <a:off x="5650992" y="1115568"/>
            <a:ext cx="3145536" cy="54864"/>
          </a:xfrm>
          <a:prstGeom prst="rect">
            <a:avLst/>
          </a:prstGeom>
          <a:solidFill>
            <a:srgbClr val="5A3A7A"/>
          </a:solidFill>
          <a:ln w="12700">
            <a:solidFill>
              <a:srgbClr val="5A3A7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/>
          <p:nvPr/>
        </p:nvSpPr>
        <p:spPr>
          <a:xfrm>
            <a:off x="5760720" y="12070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3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Tests Verified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760720" y="153619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Reports: revenue, utilization, peak hours, user activity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760720" y="184708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99.5% availability target returned in reports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760720" y="215798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Admin can add station with default charger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760720" y="24688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Admin can remove station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760720" y="277977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Admin can deactivate / reactivate operator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760720" y="309067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Deactivated operator blocked from API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760720" y="340156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Failed-login simulation → SECURITY_ALERT notification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347472" y="4755658"/>
            <a:ext cx="8449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login → admin SECURITY_ALERT  ·  Deactivated operator blocked  ·  All admin endpoints role-guarded</a:t>
            </a:r>
            <a:endParaRPr lang="en-US" sz="850" dirty="0"/>
          </a:p>
        </p:txBody>
      </p:sp>
      <p:sp>
        <p:nvSpPr>
          <p:cNvPr id="6" name="Shape 27">
            <a:extLst>
              <a:ext uri="{FF2B5EF4-FFF2-40B4-BE49-F238E27FC236}">
                <a16:creationId xmlns:a16="http://schemas.microsoft.com/office/drawing/2014/main" id="{D6E3D611-41CE-81AF-7B48-77B73F086E8F}"/>
              </a:ext>
            </a:extLst>
          </p:cNvPr>
          <p:cNvSpPr/>
          <p:nvPr/>
        </p:nvSpPr>
        <p:spPr>
          <a:xfrm>
            <a:off x="5660484" y="3673202"/>
            <a:ext cx="3145536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r>
              <a:rPr lang="en-US" sz="800" dirty="0"/>
              <a:t>interface testing + access-control defect testing.</a:t>
            </a:r>
            <a:endParaRPr lang="tr-TR" sz="800" dirty="0"/>
          </a:p>
        </p:txBody>
      </p:sp>
      <p:sp>
        <p:nvSpPr>
          <p:cNvPr id="17" name="Shape 28">
            <a:extLst>
              <a:ext uri="{FF2B5EF4-FFF2-40B4-BE49-F238E27FC236}">
                <a16:creationId xmlns:a16="http://schemas.microsoft.com/office/drawing/2014/main" id="{5C5D6E35-15D2-6382-1F3D-AF1E17916662}"/>
              </a:ext>
            </a:extLst>
          </p:cNvPr>
          <p:cNvSpPr/>
          <p:nvPr/>
        </p:nvSpPr>
        <p:spPr>
          <a:xfrm>
            <a:off x="5660833" y="3690858"/>
            <a:ext cx="45719" cy="256032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0" name="Resim 19">
            <a:extLst>
              <a:ext uri="{FF2B5EF4-FFF2-40B4-BE49-F238E27FC236}">
                <a16:creationId xmlns:a16="http://schemas.microsoft.com/office/drawing/2014/main" id="{3CEE9648-3DCF-AAA5-FE87-D2D2CDD96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1" y="4011414"/>
            <a:ext cx="5977097" cy="6208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5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TESTING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84048" y="420624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Integrity — Tamper-Evident Logging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8375904" cy="22860"/>
          </a:xfrm>
          <a:prstGeom prst="rect">
            <a:avLst/>
          </a:prstGeom>
          <a:solidFill>
            <a:srgbClr val="DEC878"/>
          </a:solidFill>
          <a:ln w="1270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384048" y="109728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HASH CHAIN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84048" y="1353312"/>
            <a:ext cx="2578608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50800" dist="25400" dir="8100000" algn="bl" rotWithShape="0">
              <a:srgbClr val="B8A898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384048" y="1353312"/>
            <a:ext cx="2578608" cy="45720"/>
          </a:xfrm>
          <a:prstGeom prst="rect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493776" y="14447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Entry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3776" y="173736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7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SEED_READY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7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hash: a1b2c3...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962656" y="1856232"/>
            <a:ext cx="237744" cy="0"/>
          </a:xfrm>
          <a:prstGeom prst="line">
            <a:avLst/>
          </a:prstGeom>
          <a:noFill/>
          <a:ln w="15240">
            <a:solidFill>
              <a:srgbClr val="B8922A"/>
            </a:solidFill>
            <a:prstDash val="solid"/>
            <a:tailEnd type="none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3200400" y="1353312"/>
            <a:ext cx="2578608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50800" dist="25400" dir="8100000" algn="bl" rotWithShape="0">
              <a:srgbClr val="B8A898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3200400" y="1353312"/>
            <a:ext cx="2578608" cy="45720"/>
          </a:xfrm>
          <a:prstGeom prst="rect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3310128" y="14447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Entry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10128" y="173736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7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STATION_ADDED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7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prev: a1b2c3 + payload → e4f5g6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779008" y="1856232"/>
            <a:ext cx="237744" cy="0"/>
          </a:xfrm>
          <a:prstGeom prst="line">
            <a:avLst/>
          </a:prstGeom>
          <a:noFill/>
          <a:ln w="15240">
            <a:solidFill>
              <a:srgbClr val="B8922A"/>
            </a:solidFill>
            <a:prstDash val="solid"/>
            <a:tailEnd type="none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6016752" y="1353312"/>
            <a:ext cx="2578608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50800" dist="25400" dir="8100000" algn="bl" rotWithShape="0">
              <a:srgbClr val="B8A898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6016752" y="1353312"/>
            <a:ext cx="2578608" cy="45720"/>
          </a:xfrm>
          <a:prstGeom prst="rect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6126480" y="14447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Entry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26480" y="173736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7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RESERVATION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7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prev: e4f5g6 + payload → h7i8j9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84048" y="2487168"/>
            <a:ext cx="5047488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50800" dist="25400" dir="8100000" algn="bl" rotWithShape="0">
              <a:srgbClr val="B8A898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512064" y="257860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verified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2064" y="2889504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GET /</a:t>
            </a:r>
            <a:r>
              <a:rPr lang="en-US" sz="850" dirty="0" err="1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/audit as admin → 200, </a:t>
            </a:r>
            <a:r>
              <a:rPr lang="en-US" sz="850" dirty="0" err="1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chainValid</a:t>
            </a: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true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12064" y="3127248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Each audit row includes </a:t>
            </a:r>
            <a:r>
              <a:rPr lang="en-US" sz="850" dirty="0" err="1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prevHash</a:t>
            </a: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850" dirty="0" err="1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entryHash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12064" y="3364992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Chain validation checks entries sequentially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12064" y="3602736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Non-admin GET /</a:t>
            </a:r>
            <a:r>
              <a:rPr lang="en-US" sz="850" dirty="0" err="1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/audit → 403 Forbidden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614416" y="2487168"/>
            <a:ext cx="3145536" cy="1389888"/>
          </a:xfrm>
          <a:prstGeom prst="rect">
            <a:avLst/>
          </a:prstGeom>
          <a:solidFill>
            <a:srgbClr val="F5E9CB"/>
          </a:solidFill>
          <a:ln w="6350">
            <a:solidFill>
              <a:srgbClr val="DEC878"/>
            </a:solidFill>
            <a:prstDash val="solid"/>
          </a:ln>
          <a:effectLst>
            <a:outerShdw blurRad="50800" dist="25400" dir="8100000" algn="bl" rotWithShape="0">
              <a:srgbClr val="B8A898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5724144" y="257860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24144" y="2889504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Detects audit-log tampering through hash-chain validation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724144" y="312724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Provides accountability for critical system actions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724144" y="336499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Supports admin-side traceability and debugging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724144" y="360273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RBAC protects audit evidence from non-admin access</a:t>
            </a:r>
            <a:endParaRPr lang="en-US" sz="850" dirty="0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3CBD9240-21D7-A090-7E86-6010AD9298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4109774"/>
            <a:ext cx="7996136" cy="256871"/>
          </a:xfrm>
          <a:prstGeom prst="rect">
            <a:avLst/>
          </a:prstGeom>
        </p:spPr>
      </p:pic>
      <p:sp>
        <p:nvSpPr>
          <p:cNvPr id="32" name="Shape 27">
            <a:extLst>
              <a:ext uri="{FF2B5EF4-FFF2-40B4-BE49-F238E27FC236}">
                <a16:creationId xmlns:a16="http://schemas.microsoft.com/office/drawing/2014/main" id="{96D456AC-0FB7-87D8-BD71-21BA8DF62B82}"/>
              </a:ext>
            </a:extLst>
          </p:cNvPr>
          <p:cNvSpPr/>
          <p:nvPr/>
        </p:nvSpPr>
        <p:spPr>
          <a:xfrm>
            <a:off x="384048" y="4507991"/>
            <a:ext cx="4187952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DED8CE"/>
            </a:solidFill>
            <a:prstDash val="solid"/>
          </a:ln>
        </p:spPr>
        <p:txBody>
          <a:bodyPr/>
          <a:lstStyle/>
          <a:p>
            <a:r>
              <a:rPr lang="en-US" sz="800" dirty="0"/>
              <a:t>static + dynamic V&amp;V boundary — audit logic inspected in code, verified through API </a:t>
            </a:r>
            <a:r>
              <a:rPr lang="en-US" sz="800" dirty="0" err="1"/>
              <a:t>behaviour</a:t>
            </a:r>
            <a:r>
              <a:rPr lang="en-US" sz="800" dirty="0"/>
              <a:t>.</a:t>
            </a:r>
            <a:endParaRPr lang="tr-TR" sz="800" dirty="0"/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A8F2EC81-DDDD-6933-F822-20F365F4E6E9}"/>
              </a:ext>
            </a:extLst>
          </p:cNvPr>
          <p:cNvSpPr/>
          <p:nvPr/>
        </p:nvSpPr>
        <p:spPr>
          <a:xfrm>
            <a:off x="384397" y="4525647"/>
            <a:ext cx="45719" cy="256032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5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TESTING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84048" y="420624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Requirements Traceability Through Testing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8375904" cy="22860"/>
          </a:xfrm>
          <a:prstGeom prst="rect">
            <a:avLst/>
          </a:prstGeom>
          <a:solidFill>
            <a:srgbClr val="DEC878"/>
          </a:solidFill>
          <a:ln w="1270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1115568"/>
          <a:ext cx="8449056" cy="37490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5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16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6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Evidence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 Registration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EDR-01, EDR-02, SDR-01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Creation, validation, cross-user protection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 &amp; Reservation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EDR-03–08, EDR-15, MNS-06, PWS-07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Compatible reservation, slot rules, wallet sufficiency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Charging Session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EDR-09, EDR-17, EDR-18, PWS-02, PWS-08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calc, target stop, sync recovery, wallet depletion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Wallet &amp; Receipts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PWS-01–07, GRR-01–04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Deduction, refunds, receipts, cents storage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 Maintenance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SOR-01–06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Charger status, pricing, OOS cascade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&amp; Reports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ADR-01–08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Station CRUD, user management, reports, 99.5% 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&amp; Audit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SDR-01–05, ADR-06, ADR-07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RBAC, audit chain, failed-login alerts, hash integrity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47472" y="4974336"/>
            <a:ext cx="8449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requirements traced across 7 test areas  ·  all main use cases covered end-to-end</a:t>
            </a:r>
            <a:endParaRPr lang="en-US" sz="8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5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TESTING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84048" y="420624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Coverage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8375904" cy="22860"/>
          </a:xfrm>
          <a:prstGeom prst="rect">
            <a:avLst/>
          </a:prstGeom>
          <a:solidFill>
            <a:srgbClr val="DEC878"/>
          </a:solidFill>
          <a:ln w="1270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347472" y="1115568"/>
            <a:ext cx="2029968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50800" dist="25400" dir="8100000" algn="bl" rotWithShape="0">
              <a:srgbClr val="B8A898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347472" y="1115568"/>
            <a:ext cx="2029968" cy="45720"/>
          </a:xfrm>
          <a:prstGeom prst="rect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347472" y="1225296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8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47472" y="1737360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passed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47472" y="1975104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suites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23744" y="1115568"/>
            <a:ext cx="2029968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50800" dist="25400" dir="8100000" algn="bl" rotWithShape="0">
              <a:srgbClr val="B8A898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2523744" y="1115568"/>
            <a:ext cx="2029968" cy="4572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2523744" y="1225296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23744" y="1737360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Req. mappings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523744" y="1975104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areas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700016" y="1115568"/>
            <a:ext cx="2029968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50800" dist="25400" dir="8100000" algn="bl" rotWithShape="0">
              <a:srgbClr val="B8A898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4700016" y="1115568"/>
            <a:ext cx="2029968" cy="45720"/>
          </a:xfrm>
          <a:prstGeom prst="rect">
            <a:avLst/>
          </a:prstGeom>
          <a:solidFill>
            <a:srgbClr val="4A7A5A"/>
          </a:solidFill>
          <a:ln w="12700">
            <a:solidFill>
              <a:srgbClr val="4A7A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4700016" y="1225296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A7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00016" y="1737360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use cases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00016" y="1975104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876288" y="1115568"/>
            <a:ext cx="2029968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50800" dist="25400" dir="8100000" algn="bl" rotWithShape="0">
              <a:srgbClr val="B8A898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6876288" y="1115568"/>
            <a:ext cx="2029968" cy="45720"/>
          </a:xfrm>
          <a:prstGeom prst="rect">
            <a:avLst/>
          </a:prstGeom>
          <a:solidFill>
            <a:srgbClr val="2A5A8A"/>
          </a:solidFill>
          <a:ln w="12700">
            <a:solidFill>
              <a:srgbClr val="2A5A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6876288" y="1225296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A5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876288" y="1737360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enforced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876288" y="1975104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endpoints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47472" y="2377440"/>
            <a:ext cx="270662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50800" dist="25400" dir="8100000" algn="bl" rotWithShape="0">
              <a:srgbClr val="B8A898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347472" y="2377440"/>
            <a:ext cx="2706624" cy="4572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457200" y="2468880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Cases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2743200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UC-1, UC-2, UC-3 tested end-to-end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0" y="2377440"/>
            <a:ext cx="270662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50800" dist="25400" dir="8100000" algn="bl" rotWithShape="0">
              <a:srgbClr val="B8A898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3200400" y="2377440"/>
            <a:ext cx="2706624" cy="45720"/>
          </a:xfrm>
          <a:prstGeom prst="rect">
            <a:avLst/>
          </a:prstGeom>
          <a:solidFill>
            <a:srgbClr val="2A5A8A"/>
          </a:solidFill>
          <a:ln w="12700">
            <a:solidFill>
              <a:srgbClr val="2A5A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3310128" y="2468880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Rules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10128" y="2743200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6+ domain reservation rules validated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053328" y="2377440"/>
            <a:ext cx="270662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50800" dist="25400" dir="8100000" algn="bl" rotWithShape="0">
              <a:srgbClr val="B8A898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4" name="Shape 32"/>
          <p:cNvSpPr/>
          <p:nvPr/>
        </p:nvSpPr>
        <p:spPr>
          <a:xfrm>
            <a:off x="6053328" y="2377440"/>
            <a:ext cx="2706624" cy="45720"/>
          </a:xfrm>
          <a:prstGeom prst="rect">
            <a:avLst/>
          </a:prstGeom>
          <a:solidFill>
            <a:srgbClr val="8A3030"/>
          </a:solidFill>
          <a:ln w="12700">
            <a:solidFill>
              <a:srgbClr val="8A3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6163056" y="2468880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63056" y="2743200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per endpoint, failed-login alert, cross-user guard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47472" y="3218688"/>
            <a:ext cx="270662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50800" dist="25400" dir="8100000" algn="bl" rotWithShape="0">
              <a:srgbClr val="B8A898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8" name="Shape 36"/>
          <p:cNvSpPr/>
          <p:nvPr/>
        </p:nvSpPr>
        <p:spPr>
          <a:xfrm>
            <a:off x="347472" y="3218688"/>
            <a:ext cx="2706624" cy="45720"/>
          </a:xfrm>
          <a:prstGeom prst="rect">
            <a:avLst/>
          </a:prstGeom>
          <a:solidFill>
            <a:srgbClr val="4A7A5A"/>
          </a:solidFill>
          <a:ln w="12700">
            <a:solidFill>
              <a:srgbClr val="4A7A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457200" y="3310128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Reliability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3584448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sync, wallet depletion, fault handling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00400" y="3218688"/>
            <a:ext cx="270662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50800" dist="25400" dir="8100000" algn="bl" rotWithShape="0">
              <a:srgbClr val="B8A898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2" name="Shape 40"/>
          <p:cNvSpPr/>
          <p:nvPr/>
        </p:nvSpPr>
        <p:spPr>
          <a:xfrm>
            <a:off x="3200400" y="3218688"/>
            <a:ext cx="2706624" cy="45720"/>
          </a:xfrm>
          <a:prstGeom prst="rect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3310128" y="3310128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310128" y="3584448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calc, deduction, refund, receipts, cents storage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053328" y="3218688"/>
            <a:ext cx="270662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50800" dist="25400" dir="8100000" algn="bl" rotWithShape="0">
              <a:srgbClr val="B8A898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6" name="Shape 44"/>
          <p:cNvSpPr/>
          <p:nvPr/>
        </p:nvSpPr>
        <p:spPr>
          <a:xfrm>
            <a:off x="6053328" y="3218688"/>
            <a:ext cx="2706624" cy="45720"/>
          </a:xfrm>
          <a:prstGeom prst="rect">
            <a:avLst/>
          </a:prstGeom>
          <a:solidFill>
            <a:srgbClr val="5A3A7A"/>
          </a:solidFill>
          <a:ln w="12700">
            <a:solidFill>
              <a:srgbClr val="5A3A7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7" name="Text 45"/>
          <p:cNvSpPr/>
          <p:nvPr/>
        </p:nvSpPr>
        <p:spPr>
          <a:xfrm>
            <a:off x="6163056" y="3310128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Integrity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163056" y="3584448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chain validation, tamper-evident log</a:t>
            </a:r>
            <a:endParaRPr lang="en-US" sz="850" dirty="0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968F40D3-F568-87D5-B611-798E004A7B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7364" r="14113"/>
          <a:stretch>
            <a:fillRect/>
          </a:stretch>
        </p:blipFill>
        <p:spPr>
          <a:xfrm>
            <a:off x="931488" y="4027932"/>
            <a:ext cx="7244448" cy="93676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5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TESTING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84048" y="420624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Verification Notes &amp; Prototype Boundaries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8375904" cy="22860"/>
          </a:xfrm>
          <a:prstGeom prst="rect">
            <a:avLst/>
          </a:prstGeom>
          <a:solidFill>
            <a:srgbClr val="DEC878"/>
          </a:solidFill>
          <a:ln w="12700">
            <a:solidFill>
              <a:srgbClr val="DEC87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384048" y="1115568"/>
            <a:ext cx="4041648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101600" dist="38100" dir="8100000" algn="bl" rotWithShape="0">
              <a:srgbClr val="B8A898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384048" y="1115568"/>
            <a:ext cx="4041648" cy="54864"/>
          </a:xfrm>
          <a:prstGeom prst="rect">
            <a:avLst/>
          </a:prstGeom>
          <a:solidFill>
            <a:srgbClr val="4A7A5A"/>
          </a:solidFill>
          <a:ln w="12700">
            <a:solidFill>
              <a:srgbClr val="4A7A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512064" y="120700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7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 Verified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572768"/>
            <a:ext cx="37947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621792" y="162763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TypeScript check: npx tsc --noEmit → passed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2011680"/>
            <a:ext cx="3794760" cy="347472"/>
          </a:xfrm>
          <a:prstGeom prst="rect">
            <a:avLst/>
          </a:prstGeom>
          <a:solidFill>
            <a:srgbClr val="E4F0E8"/>
          </a:solidFill>
          <a:ln w="381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621792" y="206654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Vitest run: npx vitest run → 29 tests passed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2450592"/>
            <a:ext cx="37947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621792" y="250545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Vite build: npx vite build → passed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2889504"/>
            <a:ext cx="3794760" cy="347472"/>
          </a:xfrm>
          <a:prstGeom prst="rect">
            <a:avLst/>
          </a:prstGeom>
          <a:solidFill>
            <a:srgbClr val="E4F0E8"/>
          </a:solidFill>
          <a:ln w="381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621792" y="294436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All 3 main use cases tested end-to-end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3328416"/>
            <a:ext cx="37947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621792" y="338328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RBAC enforcement verified per endpoint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3767328"/>
            <a:ext cx="3794760" cy="347472"/>
          </a:xfrm>
          <a:prstGeom prst="rect">
            <a:avLst/>
          </a:prstGeom>
          <a:solidFill>
            <a:srgbClr val="E4F0E8"/>
          </a:solidFill>
          <a:ln w="381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621792" y="382219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Audit hash-chain integrity confirmed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418795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top-level npm test/build previously hit Windows Prisma DLL lock before app logic; direct npx commands confirm pass.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681728" y="1115568"/>
            <a:ext cx="4078224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E"/>
            </a:solidFill>
            <a:prstDash val="solid"/>
          </a:ln>
          <a:effectLst>
            <a:outerShdw blurRad="101600" dist="38100" dir="8100000" algn="bl" rotWithShape="0">
              <a:srgbClr val="B8A898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4681728" y="1115568"/>
            <a:ext cx="4078224" cy="54864"/>
          </a:xfrm>
          <a:prstGeom prst="rect">
            <a:avLst/>
          </a:prstGeom>
          <a:solidFill>
            <a:srgbClr val="8A3030"/>
          </a:solidFill>
          <a:ln w="12700">
            <a:solidFill>
              <a:srgbClr val="8A303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4809744" y="120700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  Prototype Boundaries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1572768"/>
            <a:ext cx="384048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4919472" y="160934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stub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620256" y="1609344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real bank/payment provider integration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800600" y="2011680"/>
            <a:ext cx="3840480" cy="347472"/>
          </a:xfrm>
          <a:prstGeom prst="rect">
            <a:avLst/>
          </a:prstGeom>
          <a:solidFill>
            <a:srgbClr val="F5E4E4"/>
          </a:solidFill>
          <a:ln w="381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4919472" y="204825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authentication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620256" y="2048256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through headers — not production auth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800600" y="2450592"/>
            <a:ext cx="384048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4919472" y="24871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optional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620256" y="2487168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runs with key or compatible fallback map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800600" y="2889504"/>
            <a:ext cx="3840480" cy="347472"/>
          </a:xfrm>
          <a:prstGeom prst="rect">
            <a:avLst/>
          </a:prstGeom>
          <a:solidFill>
            <a:srgbClr val="F5E4E4"/>
          </a:solidFill>
          <a:ln w="381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4919472" y="29260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simulated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620256" y="2926080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from SoC/battery — not real charger telemetry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800600" y="3328416"/>
            <a:ext cx="384048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4919472" y="33649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is deployment-level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620256" y="3364992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 runs HTTP; TLS 1.2+ is a compliance control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00600" y="3767328"/>
            <a:ext cx="3840480" cy="347472"/>
          </a:xfrm>
          <a:prstGeom prst="rect">
            <a:avLst/>
          </a:prstGeom>
          <a:solidFill>
            <a:srgbClr val="F5E4E4"/>
          </a:solidFill>
          <a:ln w="3810">
            <a:solidFill>
              <a:srgbClr val="DED8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4919472" y="380390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99.5% availability = target KPI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620256" y="3803904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measured from production monitoring data</a:t>
            </a:r>
            <a:endParaRPr lang="en-US" sz="800" dirty="0"/>
          </a:p>
        </p:txBody>
      </p:sp>
      <p:sp>
        <p:nvSpPr>
          <p:cNvPr id="43" name="Metin kutusu 42">
            <a:extLst>
              <a:ext uri="{FF2B5EF4-FFF2-40B4-BE49-F238E27FC236}">
                <a16:creationId xmlns:a16="http://schemas.microsoft.com/office/drawing/2014/main" id="{0D170C34-5228-C86C-E653-00156BE8CB43}"/>
              </a:ext>
            </a:extLst>
          </p:cNvPr>
          <p:cNvSpPr txBox="1"/>
          <p:nvPr/>
        </p:nvSpPr>
        <p:spPr>
          <a:xfrm>
            <a:off x="302455" y="4658308"/>
            <a:ext cx="54090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Testing can reveal the presence of defects, not prove their absence; therefore we state prototype boundaries explicitly.</a:t>
            </a:r>
            <a:endParaRPr lang="tr-TR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75488" y="320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50" dirty="0">
                <a:solidFill>
                  <a:srgbClr val="A8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NETWORK  ·  GROUP 28  ·  FSE SPRING 2026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75488" y="64008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Voltline is not just a prototype.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75488" y="1371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D4A8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a validated working system.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75488" y="1975104"/>
            <a:ext cx="8138160" cy="22860"/>
          </a:xfrm>
          <a:prstGeom prst="rect">
            <a:avLst/>
          </a:prstGeom>
          <a:solidFill>
            <a:srgbClr val="D4A83A"/>
          </a:solidFill>
          <a:ln w="12700">
            <a:solidFill>
              <a:srgbClr val="D4A83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475488" y="2176272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" y="2578608"/>
            <a:ext cx="2487168" cy="2286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493776" y="2798064"/>
            <a:ext cx="73152" cy="73152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640080" y="2706624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 charging workflows (UC-1, UC-2, UC-3)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93776" y="3200400"/>
            <a:ext cx="73152" cy="73152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640080" y="3108960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architecture — 8 components, 7 subsystems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93776" y="3602736"/>
            <a:ext cx="73152" cy="73152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640080" y="3511296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UI — Driver / Operator / Admin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93776" y="4005072"/>
            <a:ext cx="73152" cy="73152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640080" y="3913632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Guide pages for all three roles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93776" y="4407408"/>
            <a:ext cx="73152" cy="73152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640080" y="4315968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audit chain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93776" y="4809744"/>
            <a:ext cx="73152" cy="73152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640080" y="4718304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99.5% availability SLA tracking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328416" y="2176272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328416" y="2578608"/>
            <a:ext cx="2487168" cy="22860"/>
          </a:xfrm>
          <a:prstGeom prst="rect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3346704" y="2798064"/>
            <a:ext cx="73152" cy="73152"/>
          </a:xfrm>
          <a:prstGeom prst="rect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3493008" y="2706624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tests passing across 2 suites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346704" y="3200400"/>
            <a:ext cx="73152" cy="73152"/>
          </a:xfrm>
          <a:prstGeom prst="rect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3493008" y="3108960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unit + API integration layers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346704" y="3602736"/>
            <a:ext cx="73152" cy="73152"/>
          </a:xfrm>
          <a:prstGeom prst="rect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3493008" y="3511296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enforced on all protected endpoints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346704" y="4005072"/>
            <a:ext cx="73152" cy="73152"/>
          </a:xfrm>
          <a:prstGeom prst="rect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3493008" y="3913632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cascade and wallet integrity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346704" y="4407408"/>
            <a:ext cx="73152" cy="73152"/>
          </a:xfrm>
          <a:prstGeom prst="rect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3493008" y="4315968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hash-chain integrity confirmed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346704" y="4809744"/>
            <a:ext cx="73152" cy="73152"/>
          </a:xfrm>
          <a:prstGeom prst="rect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3493008" y="4718304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requirements traced through tests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181344" y="2176272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7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181344" y="2578608"/>
            <a:ext cx="2487168" cy="22860"/>
          </a:xfrm>
          <a:prstGeom prst="rect">
            <a:avLst/>
          </a:prstGeom>
          <a:solidFill>
            <a:srgbClr val="4A7A5A"/>
          </a:solidFill>
          <a:ln w="12700">
            <a:solidFill>
              <a:srgbClr val="4A7A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Shape 36"/>
          <p:cNvSpPr/>
          <p:nvPr/>
        </p:nvSpPr>
        <p:spPr>
          <a:xfrm>
            <a:off x="6199632" y="2798064"/>
            <a:ext cx="73152" cy="73152"/>
          </a:xfrm>
          <a:prstGeom prst="rect">
            <a:avLst/>
          </a:prstGeom>
          <a:solidFill>
            <a:srgbClr val="4A7A5A"/>
          </a:solidFill>
          <a:ln w="12700">
            <a:solidFill>
              <a:srgbClr val="4A7A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6345936" y="2706624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payment gateway integration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199632" y="3200400"/>
            <a:ext cx="73152" cy="73152"/>
          </a:xfrm>
          <a:prstGeom prst="rect">
            <a:avLst/>
          </a:prstGeom>
          <a:solidFill>
            <a:srgbClr val="4A7A5A"/>
          </a:solidFill>
          <a:ln w="12700">
            <a:solidFill>
              <a:srgbClr val="4A7A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Text 39"/>
          <p:cNvSpPr/>
          <p:nvPr/>
        </p:nvSpPr>
        <p:spPr>
          <a:xfrm>
            <a:off x="6345936" y="3108960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live session updates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199632" y="3602736"/>
            <a:ext cx="73152" cy="73152"/>
          </a:xfrm>
          <a:prstGeom prst="rect">
            <a:avLst/>
          </a:prstGeom>
          <a:solidFill>
            <a:srgbClr val="4A7A5A"/>
          </a:solidFill>
          <a:ln w="12700">
            <a:solidFill>
              <a:srgbClr val="4A7A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6345936" y="3511296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migration for production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199632" y="4005072"/>
            <a:ext cx="73152" cy="73152"/>
          </a:xfrm>
          <a:prstGeom prst="rect">
            <a:avLst/>
          </a:prstGeom>
          <a:solidFill>
            <a:srgbClr val="4A7A5A"/>
          </a:solidFill>
          <a:ln w="12700">
            <a:solidFill>
              <a:srgbClr val="4A7A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Text 43"/>
          <p:cNvSpPr/>
          <p:nvPr/>
        </p:nvSpPr>
        <p:spPr>
          <a:xfrm>
            <a:off x="6345936" y="3913632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PWA + push notifications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199632" y="4407408"/>
            <a:ext cx="73152" cy="73152"/>
          </a:xfrm>
          <a:prstGeom prst="rect">
            <a:avLst/>
          </a:prstGeom>
          <a:solidFill>
            <a:srgbClr val="4A7A5A"/>
          </a:solidFill>
          <a:ln w="12700">
            <a:solidFill>
              <a:srgbClr val="4A7A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7" name="Text 45"/>
          <p:cNvSpPr/>
          <p:nvPr/>
        </p:nvSpPr>
        <p:spPr>
          <a:xfrm>
            <a:off x="6345936" y="4315968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 (TR / EN)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199632" y="4809744"/>
            <a:ext cx="73152" cy="73152"/>
          </a:xfrm>
          <a:prstGeom prst="rect">
            <a:avLst/>
          </a:prstGeom>
          <a:solidFill>
            <a:srgbClr val="4A7A5A"/>
          </a:solidFill>
          <a:ln w="12700">
            <a:solidFill>
              <a:srgbClr val="4A7A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9" name="Text 47"/>
          <p:cNvSpPr/>
          <p:nvPr/>
        </p:nvSpPr>
        <p:spPr>
          <a:xfrm>
            <a:off x="6345936" y="4718304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deployment pipeline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08C521E-B0E4-4C9E-A41B-188E3C979FC9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50efa828-73e3-4924-845e-8dd7b0a84a9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417</TotalTime>
  <Words>4154</Words>
  <Application>Microsoft Office PowerPoint</Application>
  <PresentationFormat>Ekran Gösterisi (16:9)</PresentationFormat>
  <Paragraphs>950</Paragraphs>
  <Slides>46</Slides>
  <Notes>41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46</vt:i4>
      </vt:variant>
    </vt:vector>
  </HeadingPairs>
  <TitlesOfParts>
    <vt:vector size="52" baseType="lpstr">
      <vt:lpstr>Aptos</vt:lpstr>
      <vt:lpstr>Arial</vt:lpstr>
      <vt:lpstr>Calibri</vt:lpstr>
      <vt:lpstr>Courier New</vt:lpstr>
      <vt:lpstr>Georgia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Voltline — Smart EV Charging Network</dc:title>
  <dc:subject>PptxGenJS Presentation</dc:subject>
  <dc:creator>PptxGenJS</dc:creator>
  <cp:lastModifiedBy>Casper</cp:lastModifiedBy>
  <cp:revision>51</cp:revision>
  <dcterms:created xsi:type="dcterms:W3CDTF">2026-05-13T18:32:21Z</dcterms:created>
  <dcterms:modified xsi:type="dcterms:W3CDTF">2026-05-14T16:58:29Z</dcterms:modified>
</cp:coreProperties>
</file>